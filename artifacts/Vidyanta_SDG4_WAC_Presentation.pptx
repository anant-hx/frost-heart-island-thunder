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17"/>
          </a:solidFill>
          <a:ln/>
        </p:spPr>
      </p:sp>
      <p:sp>
        <p:nvSpPr>
          <p:cNvPr id="3" name="Shape 1"/>
          <p:cNvSpPr/>
          <p:nvPr/>
        </p:nvSpPr>
        <p:spPr>
          <a:xfrm>
            <a:off x="164592" y="0"/>
            <a:ext cx="73152" cy="6858000"/>
          </a:xfrm>
          <a:prstGeom prst="rect">
            <a:avLst/>
          </a:prstGeom>
          <a:solidFill>
            <a:srgbClr val="1F7A72"/>
          </a:solidFill>
          <a:ln/>
        </p:spPr>
      </p:sp>
      <p:sp>
        <p:nvSpPr>
          <p:cNvPr id="4" name="Shape 2"/>
          <p:cNvSpPr/>
          <p:nvPr/>
        </p:nvSpPr>
        <p:spPr>
          <a:xfrm>
            <a:off x="640080" y="292608"/>
            <a:ext cx="4434840" cy="1572768"/>
          </a:xfrm>
          <a:prstGeom prst="roundRect">
            <a:avLst>
              <a:gd name="adj" fmla="val 4651"/>
            </a:avLst>
          </a:prstGeom>
          <a:solidFill>
            <a:srgbClr val="FFFFFF"/>
          </a:solidFill>
          <a:ln/>
        </p:spPr>
      </p:sp>
      <p:pic>
        <p:nvPicPr>
          <p:cNvPr id="5" name="Image 0" descr="/home/workdir/artifacts/images/vidyanta_logo.png">    </p:cNvPr>
          <p:cNvPicPr>
            <a:picLocks noChangeAspect="1"/>
          </p:cNvPicPr>
          <p:nvPr/>
        </p:nvPicPr>
        <p:blipFill>
          <a:blip r:embed="rId1"/>
          <a:stretch>
            <a:fillRect/>
          </a:stretch>
        </p:blipFill>
        <p:spPr>
          <a:xfrm>
            <a:off x="749808" y="384048"/>
            <a:ext cx="4206240" cy="1389888"/>
          </a:xfrm>
          <a:prstGeom prst="rect">
            <a:avLst/>
          </a:prstGeom>
        </p:spPr>
      </p:pic>
      <p:sp>
        <p:nvSpPr>
          <p:cNvPr id="6" name="Text 3"/>
          <p:cNvSpPr/>
          <p:nvPr/>
        </p:nvSpPr>
        <p:spPr>
          <a:xfrm>
            <a:off x="640080" y="2148840"/>
            <a:ext cx="10515600" cy="256032"/>
          </a:xfrm>
          <a:prstGeom prst="rect">
            <a:avLst/>
          </a:prstGeom>
          <a:noFill/>
          <a:ln/>
        </p:spPr>
        <p:txBody>
          <a:bodyPr wrap="square" lIns="0" tIns="0" rIns="0" bIns="0" rtlCol="0" anchor="ctr"/>
          <a:lstStyle/>
          <a:p>
            <a:pPr indent="0" marL="0">
              <a:buNone/>
            </a:pPr>
            <a:r>
              <a:rPr lang="en-US" sz="1300" b="1" spc="160" kern="0" dirty="0">
                <a:solidFill>
                  <a:srgbClr val="D6C39A"/>
                </a:solidFill>
                <a:latin typeface="Calibri" pitchFamily="34" charset="0"/>
                <a:ea typeface="Calibri" pitchFamily="34" charset="-122"/>
                <a:cs typeface="Calibri" pitchFamily="34" charset="-120"/>
              </a:rPr>
              <a:t>WRITTEN ANALYSIS OF COMMUNICATION  ·  TERM I</a:t>
            </a:r>
            <a:endParaRPr lang="en-US" sz="1300" dirty="0"/>
          </a:p>
        </p:txBody>
      </p:sp>
      <p:sp>
        <p:nvSpPr>
          <p:cNvPr id="7" name="Text 4"/>
          <p:cNvSpPr/>
          <p:nvPr/>
        </p:nvSpPr>
        <p:spPr>
          <a:xfrm>
            <a:off x="640080" y="2514600"/>
            <a:ext cx="10972800" cy="1417320"/>
          </a:xfrm>
          <a:prstGeom prst="rect">
            <a:avLst/>
          </a:prstGeom>
          <a:noFill/>
          <a:ln/>
        </p:spPr>
        <p:txBody>
          <a:bodyPr wrap="square" lIns="0" tIns="0" rIns="0" bIns="0" rtlCol="0" anchor="ctr"/>
          <a:lstStyle/>
          <a:p>
            <a:pPr indent="0" marL="0">
              <a:buNone/>
            </a:pPr>
            <a:r>
              <a:rPr lang="en-US" sz="3400" dirty="0">
                <a:solidFill>
                  <a:srgbClr val="FFFFFF"/>
                </a:solidFill>
                <a:latin typeface="Georgia" pitchFamily="34" charset="0"/>
                <a:ea typeface="Georgia" pitchFamily="34" charset="-122"/>
                <a:cs typeface="Georgia" pitchFamily="34" charset="-120"/>
              </a:rPr>
              <a:t>Communicating United Nations</a:t>
            </a:r>
            <a:endParaRPr lang="en-US" sz="3400" dirty="0"/>
          </a:p>
          <a:p>
            <a:pPr indent="0" marL="0">
              <a:buNone/>
            </a:pPr>
            <a:r>
              <a:rPr lang="en-US" sz="3400" dirty="0">
                <a:solidFill>
                  <a:srgbClr val="FFFFFF"/>
                </a:solidFill>
                <a:latin typeface="Georgia" pitchFamily="34" charset="0"/>
                <a:ea typeface="Georgia" pitchFamily="34" charset="-122"/>
                <a:cs typeface="Georgia" pitchFamily="34" charset="-120"/>
              </a:rPr>
              <a:t>Sustainable Development Goal 4</a:t>
            </a:r>
            <a:endParaRPr lang="en-US" sz="3400" dirty="0"/>
          </a:p>
        </p:txBody>
      </p:sp>
      <p:sp>
        <p:nvSpPr>
          <p:cNvPr id="8" name="Text 5"/>
          <p:cNvSpPr/>
          <p:nvPr/>
        </p:nvSpPr>
        <p:spPr>
          <a:xfrm>
            <a:off x="640080" y="4005072"/>
            <a:ext cx="10515600" cy="329184"/>
          </a:xfrm>
          <a:prstGeom prst="rect">
            <a:avLst/>
          </a:prstGeom>
          <a:noFill/>
          <a:ln/>
        </p:spPr>
        <p:txBody>
          <a:bodyPr wrap="square" lIns="0" tIns="0" rIns="0" bIns="0" rtlCol="0" anchor="ctr"/>
          <a:lstStyle/>
          <a:p>
            <a:pPr indent="0" marL="0">
              <a:buNone/>
            </a:pPr>
            <a:r>
              <a:rPr lang="en-US" sz="1800" i="1" dirty="0">
                <a:solidFill>
                  <a:srgbClr val="C5D0DC"/>
                </a:solidFill>
                <a:latin typeface="Calibri" pitchFamily="34" charset="0"/>
                <a:ea typeface="Calibri" pitchFamily="34" charset="-122"/>
                <a:cs typeface="Calibri" pitchFamily="34" charset="-120"/>
              </a:rPr>
              <a:t>Quality Education — to every stakeholder of a school-EdTech company</a:t>
            </a:r>
            <a:endParaRPr lang="en-US" sz="1800" dirty="0"/>
          </a:p>
        </p:txBody>
      </p:sp>
      <p:sp>
        <p:nvSpPr>
          <p:cNvPr id="9" name="Shape 6"/>
          <p:cNvSpPr/>
          <p:nvPr/>
        </p:nvSpPr>
        <p:spPr>
          <a:xfrm>
            <a:off x="640080" y="4572000"/>
            <a:ext cx="1143000" cy="329184"/>
          </a:xfrm>
          <a:prstGeom prst="roundRect">
            <a:avLst>
              <a:gd name="adj" fmla="val 16667"/>
            </a:avLst>
          </a:prstGeom>
          <a:solidFill>
            <a:srgbClr val="243656"/>
          </a:solidFill>
          <a:ln/>
        </p:spPr>
      </p:sp>
      <p:sp>
        <p:nvSpPr>
          <p:cNvPr id="10" name="Text 7"/>
          <p:cNvSpPr/>
          <p:nvPr/>
        </p:nvSpPr>
        <p:spPr>
          <a:xfrm>
            <a:off x="640080" y="4572000"/>
            <a:ext cx="1143000"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SDG 4</a:t>
            </a:r>
            <a:endParaRPr lang="en-US" sz="1200" dirty="0"/>
          </a:p>
        </p:txBody>
      </p:sp>
      <p:sp>
        <p:nvSpPr>
          <p:cNvPr id="11" name="Shape 8"/>
          <p:cNvSpPr/>
          <p:nvPr/>
        </p:nvSpPr>
        <p:spPr>
          <a:xfrm>
            <a:off x="1920240" y="4572000"/>
            <a:ext cx="3063240" cy="329184"/>
          </a:xfrm>
          <a:prstGeom prst="roundRect">
            <a:avLst>
              <a:gd name="adj" fmla="val 16667"/>
            </a:avLst>
          </a:prstGeom>
          <a:solidFill>
            <a:srgbClr val="243656"/>
          </a:solidFill>
          <a:ln/>
        </p:spPr>
      </p:sp>
      <p:sp>
        <p:nvSpPr>
          <p:cNvPr id="12" name="Text 9"/>
          <p:cNvSpPr/>
          <p:nvPr/>
        </p:nvSpPr>
        <p:spPr>
          <a:xfrm>
            <a:off x="1920240" y="4572000"/>
            <a:ext cx="3063240"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School education + EdTech</a:t>
            </a:r>
            <a:endParaRPr lang="en-US" sz="1200" dirty="0"/>
          </a:p>
        </p:txBody>
      </p:sp>
      <p:sp>
        <p:nvSpPr>
          <p:cNvPr id="13" name="Shape 10"/>
          <p:cNvSpPr/>
          <p:nvPr/>
        </p:nvSpPr>
        <p:spPr>
          <a:xfrm>
            <a:off x="5120640" y="4572000"/>
            <a:ext cx="3063240" cy="329184"/>
          </a:xfrm>
          <a:prstGeom prst="roundRect">
            <a:avLst>
              <a:gd name="adj" fmla="val 16667"/>
            </a:avLst>
          </a:prstGeom>
          <a:solidFill>
            <a:srgbClr val="243656"/>
          </a:solidFill>
          <a:ln/>
        </p:spPr>
      </p:sp>
      <p:sp>
        <p:nvSpPr>
          <p:cNvPr id="14" name="Text 11"/>
          <p:cNvSpPr/>
          <p:nvPr/>
        </p:nvSpPr>
        <p:spPr>
          <a:xfrm>
            <a:off x="5120640" y="4572000"/>
            <a:ext cx="3063240"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Vidyanta Learning Pvt. Ltd.</a:t>
            </a:r>
            <a:endParaRPr lang="en-US" sz="1200" dirty="0"/>
          </a:p>
        </p:txBody>
      </p:sp>
      <p:sp>
        <p:nvSpPr>
          <p:cNvPr id="15" name="Text 12"/>
          <p:cNvSpPr/>
          <p:nvPr/>
        </p:nvSpPr>
        <p:spPr>
          <a:xfrm>
            <a:off x="640080" y="5138928"/>
            <a:ext cx="10972800" cy="256032"/>
          </a:xfrm>
          <a:prstGeom prst="rect">
            <a:avLst/>
          </a:prstGeom>
          <a:noFill/>
          <a:ln/>
        </p:spPr>
        <p:txBody>
          <a:bodyPr wrap="square" lIns="0" tIns="0" rIns="0" bIns="0" rtlCol="0" anchor="ctr"/>
          <a:lstStyle/>
          <a:p>
            <a:pPr indent="0" marL="0">
              <a:buNone/>
            </a:pPr>
            <a:r>
              <a:rPr lang="en-US" sz="1300" dirty="0">
                <a:solidFill>
                  <a:srgbClr val="B7C3D0"/>
                </a:solidFill>
                <a:latin typeface="Calibri" pitchFamily="34" charset="0"/>
                <a:ea typeface="Calibri" pitchFamily="34" charset="-122"/>
                <a:cs typeface="Calibri" pitchFamily="34" charset="-120"/>
              </a:rPr>
              <a:t>Anant Mishra  ·  Kunal Khanna  ·  Siddhi Vinayak Vaidya  ·  Simran Sahu  ·  Somya Jeet  ·  Sourav Ganguly</a:t>
            </a:r>
            <a:endParaRPr lang="en-US" sz="1300" dirty="0"/>
          </a:p>
        </p:txBody>
      </p:sp>
      <p:sp>
        <p:nvSpPr>
          <p:cNvPr id="16" name="Text 13"/>
          <p:cNvSpPr/>
          <p:nvPr/>
        </p:nvSpPr>
        <p:spPr>
          <a:xfrm>
            <a:off x="640080" y="5431536"/>
            <a:ext cx="10972800" cy="219456"/>
          </a:xfrm>
          <a:prstGeom prst="rect">
            <a:avLst/>
          </a:prstGeom>
          <a:noFill/>
          <a:ln/>
        </p:spPr>
        <p:txBody>
          <a:bodyPr wrap="square" lIns="0" tIns="0" rIns="0" bIns="0" rtlCol="0" anchor="ctr"/>
          <a:lstStyle/>
          <a:p>
            <a:pPr indent="0" marL="0">
              <a:buNone/>
            </a:pPr>
            <a:r>
              <a:rPr lang="en-US" sz="1200" dirty="0">
                <a:solidFill>
                  <a:srgbClr val="8E9AAB"/>
                </a:solidFill>
                <a:latin typeface="Calibri" pitchFamily="34" charset="0"/>
                <a:ea typeface="Calibri" pitchFamily="34" charset="-122"/>
                <a:cs typeface="Calibri" pitchFamily="34" charset="-120"/>
              </a:rPr>
              <a:t>Submitted to Ms. Pritima Kaushal   ·   Indian Institute of Management Rohtak   ·   14 August 2026</a:t>
            </a:r>
            <a:endParaRPr lang="en-US" sz="1200" dirty="0"/>
          </a:p>
        </p:txBody>
      </p:sp>
      <p:sp>
        <p:nvSpPr>
          <p:cNvPr id="17" name="Text 14"/>
          <p:cNvSpPr/>
          <p:nvPr/>
        </p:nvSpPr>
        <p:spPr>
          <a:xfrm>
            <a:off x="640080" y="6528816"/>
            <a:ext cx="10972800" cy="182880"/>
          </a:xfrm>
          <a:prstGeom prst="rect">
            <a:avLst/>
          </a:prstGeom>
          <a:noFill/>
          <a:ln/>
        </p:spPr>
        <p:txBody>
          <a:bodyPr wrap="square" lIns="0" tIns="0" rIns="0" bIns="0" rtlCol="0" anchor="ctr"/>
          <a:lstStyle/>
          <a:p>
            <a:pPr indent="0" marL="0">
              <a:buNone/>
            </a:pPr>
            <a:r>
              <a:rPr lang="en-US" sz="1100" dirty="0">
                <a:solidFill>
                  <a:srgbClr val="7D8A99"/>
                </a:solidFill>
                <a:latin typeface="Calibri" pitchFamily="34" charset="0"/>
                <a:ea typeface="Calibri" pitchFamily="34" charset="-122"/>
                <a:cs typeface="Calibri" pitchFamily="34" charset="-120"/>
              </a:rPr>
              <a:t>Company figures are illustrative. Industry and learning data are from cited public sources.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HOW THIS PRESENTATION MAPS TO THE BRIEF</a:t>
            </a:r>
            <a:endParaRPr lang="en-US" sz="1100" dirty="0"/>
          </a:p>
        </p:txBody>
      </p:sp>
      <p:sp>
        <p:nvSpPr>
          <p:cNvPr id="4" name="Text 2"/>
          <p:cNvSpPr/>
          <p:nvPr/>
        </p:nvSpPr>
        <p:spPr>
          <a:xfrm>
            <a:off x="457200" y="457200"/>
            <a:ext cx="10972800" cy="420624"/>
          </a:xfrm>
          <a:prstGeom prst="rect">
            <a:avLst/>
          </a:prstGeom>
          <a:noFill/>
          <a:ln/>
        </p:spPr>
        <p:txBody>
          <a:bodyPr wrap="square" lIns="0" tIns="0" rIns="0" bIns="0" rtlCol="0" anchor="ctr"/>
          <a:lstStyle/>
          <a:p>
            <a:pPr indent="0" marL="0">
              <a:buNone/>
            </a:pPr>
            <a:r>
              <a:rPr lang="en-US" sz="2800" dirty="0">
                <a:solidFill>
                  <a:srgbClr val="1B2A4A"/>
                </a:solidFill>
                <a:latin typeface="Georgia" pitchFamily="34" charset="0"/>
                <a:ea typeface="Georgia" pitchFamily="34" charset="-122"/>
                <a:cs typeface="Georgia" pitchFamily="34" charset="-120"/>
              </a:rPr>
              <a:t>Six things the assignment asked for</a:t>
            </a:r>
            <a:endParaRPr lang="en-US" sz="2800" dirty="0"/>
          </a:p>
        </p:txBody>
      </p:sp>
      <p:sp>
        <p:nvSpPr>
          <p:cNvPr id="5" name="Shape 3"/>
          <p:cNvSpPr/>
          <p:nvPr/>
        </p:nvSpPr>
        <p:spPr>
          <a:xfrm>
            <a:off x="457200" y="1097280"/>
            <a:ext cx="5577840" cy="1417320"/>
          </a:xfrm>
          <a:prstGeom prst="roundRect">
            <a:avLst>
              <a:gd name="adj" fmla="val 5161"/>
            </a:avLst>
          </a:prstGeom>
          <a:solidFill>
            <a:srgbClr val="FFFFFF"/>
          </a:solidFill>
          <a:ln/>
        </p:spPr>
      </p:sp>
      <p:sp>
        <p:nvSpPr>
          <p:cNvPr id="6" name="Shape 4"/>
          <p:cNvSpPr/>
          <p:nvPr/>
        </p:nvSpPr>
        <p:spPr>
          <a:xfrm>
            <a:off x="457200" y="1097280"/>
            <a:ext cx="91440" cy="1417320"/>
          </a:xfrm>
          <a:prstGeom prst="rect">
            <a:avLst/>
          </a:prstGeom>
          <a:solidFill>
            <a:srgbClr val="1F7A72"/>
          </a:solidFill>
          <a:ln/>
        </p:spPr>
      </p:sp>
      <p:sp>
        <p:nvSpPr>
          <p:cNvPr id="7" name="Text 5"/>
          <p:cNvSpPr/>
          <p:nvPr/>
        </p:nvSpPr>
        <p:spPr>
          <a:xfrm>
            <a:off x="749808" y="1298448"/>
            <a:ext cx="1005840" cy="329184"/>
          </a:xfrm>
          <a:prstGeom prst="rect">
            <a:avLst/>
          </a:prstGeom>
          <a:noFill/>
          <a:ln/>
        </p:spPr>
        <p:txBody>
          <a:bodyPr wrap="square" lIns="0" tIns="0" rIns="0" bIns="0" rtlCol="0" anchor="ctr"/>
          <a:lstStyle/>
          <a:p>
            <a:pPr indent="0" marL="0">
              <a:buNone/>
            </a:pPr>
            <a:r>
              <a:rPr lang="en-US" sz="2000" dirty="0">
                <a:solidFill>
                  <a:srgbClr val="1F7A72"/>
                </a:solidFill>
                <a:latin typeface="Georgia" pitchFamily="34" charset="0"/>
                <a:ea typeface="Georgia" pitchFamily="34" charset="-122"/>
                <a:cs typeface="Georgia" pitchFamily="34" charset="-120"/>
              </a:rPr>
              <a:t>01</a:t>
            </a:r>
            <a:endParaRPr lang="en-US" sz="2000" dirty="0"/>
          </a:p>
        </p:txBody>
      </p:sp>
      <p:sp>
        <p:nvSpPr>
          <p:cNvPr id="8" name="Text 6"/>
          <p:cNvSpPr/>
          <p:nvPr/>
        </p:nvSpPr>
        <p:spPr>
          <a:xfrm>
            <a:off x="1783080" y="1316736"/>
            <a:ext cx="4023360" cy="329184"/>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The problem</a:t>
            </a:r>
            <a:endParaRPr lang="en-US" sz="1800" dirty="0"/>
          </a:p>
        </p:txBody>
      </p:sp>
      <p:sp>
        <p:nvSpPr>
          <p:cNvPr id="9" name="Text 7"/>
          <p:cNvSpPr/>
          <p:nvPr/>
        </p:nvSpPr>
        <p:spPr>
          <a:xfrm>
            <a:off x="1783080" y="1719072"/>
            <a:ext cx="4023360" cy="566928"/>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Enrolment is not learning. That gap is why SDG 4 exists.</a:t>
            </a:r>
            <a:endParaRPr lang="en-US" sz="1400" dirty="0"/>
          </a:p>
        </p:txBody>
      </p:sp>
      <p:sp>
        <p:nvSpPr>
          <p:cNvPr id="10" name="Shape 8"/>
          <p:cNvSpPr/>
          <p:nvPr/>
        </p:nvSpPr>
        <p:spPr>
          <a:xfrm>
            <a:off x="6263640" y="1097280"/>
            <a:ext cx="5577840" cy="1417320"/>
          </a:xfrm>
          <a:prstGeom prst="roundRect">
            <a:avLst>
              <a:gd name="adj" fmla="val 5161"/>
            </a:avLst>
          </a:prstGeom>
          <a:solidFill>
            <a:srgbClr val="FFFFFF"/>
          </a:solidFill>
          <a:ln/>
        </p:spPr>
      </p:sp>
      <p:sp>
        <p:nvSpPr>
          <p:cNvPr id="11" name="Shape 9"/>
          <p:cNvSpPr/>
          <p:nvPr/>
        </p:nvSpPr>
        <p:spPr>
          <a:xfrm>
            <a:off x="6263640" y="1097280"/>
            <a:ext cx="91440" cy="1417320"/>
          </a:xfrm>
          <a:prstGeom prst="rect">
            <a:avLst/>
          </a:prstGeom>
          <a:solidFill>
            <a:srgbClr val="1F7A72"/>
          </a:solidFill>
          <a:ln/>
        </p:spPr>
      </p:sp>
      <p:sp>
        <p:nvSpPr>
          <p:cNvPr id="12" name="Text 10"/>
          <p:cNvSpPr/>
          <p:nvPr/>
        </p:nvSpPr>
        <p:spPr>
          <a:xfrm>
            <a:off x="6556248" y="1298448"/>
            <a:ext cx="1005840" cy="329184"/>
          </a:xfrm>
          <a:prstGeom prst="rect">
            <a:avLst/>
          </a:prstGeom>
          <a:noFill/>
          <a:ln/>
        </p:spPr>
        <p:txBody>
          <a:bodyPr wrap="square" lIns="0" tIns="0" rIns="0" bIns="0" rtlCol="0" anchor="ctr"/>
          <a:lstStyle/>
          <a:p>
            <a:pPr indent="0" marL="0">
              <a:buNone/>
            </a:pPr>
            <a:r>
              <a:rPr lang="en-US" sz="2000" dirty="0">
                <a:solidFill>
                  <a:srgbClr val="1F7A72"/>
                </a:solidFill>
                <a:latin typeface="Georgia" pitchFamily="34" charset="0"/>
                <a:ea typeface="Georgia" pitchFamily="34" charset="-122"/>
                <a:cs typeface="Georgia" pitchFamily="34" charset="-120"/>
              </a:rPr>
              <a:t>02</a:t>
            </a:r>
            <a:endParaRPr lang="en-US" sz="2000" dirty="0"/>
          </a:p>
        </p:txBody>
      </p:sp>
      <p:sp>
        <p:nvSpPr>
          <p:cNvPr id="13" name="Text 11"/>
          <p:cNvSpPr/>
          <p:nvPr/>
        </p:nvSpPr>
        <p:spPr>
          <a:xfrm>
            <a:off x="7589520" y="1316736"/>
            <a:ext cx="4023360" cy="329184"/>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The goal</a:t>
            </a:r>
            <a:endParaRPr lang="en-US" sz="1800" dirty="0"/>
          </a:p>
        </p:txBody>
      </p:sp>
      <p:sp>
        <p:nvSpPr>
          <p:cNvPr id="14" name="Text 12"/>
          <p:cNvSpPr/>
          <p:nvPr/>
        </p:nvSpPr>
        <p:spPr>
          <a:xfrm>
            <a:off x="7589520" y="1719072"/>
            <a:ext cx="4023360" cy="566928"/>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SDG 4, and the four targets this company will answer for.</a:t>
            </a:r>
            <a:endParaRPr lang="en-US" sz="1400" dirty="0"/>
          </a:p>
        </p:txBody>
      </p:sp>
      <p:sp>
        <p:nvSpPr>
          <p:cNvPr id="15" name="Shape 13"/>
          <p:cNvSpPr/>
          <p:nvPr/>
        </p:nvSpPr>
        <p:spPr>
          <a:xfrm>
            <a:off x="457200" y="2697480"/>
            <a:ext cx="5577840" cy="1417320"/>
          </a:xfrm>
          <a:prstGeom prst="roundRect">
            <a:avLst>
              <a:gd name="adj" fmla="val 5161"/>
            </a:avLst>
          </a:prstGeom>
          <a:solidFill>
            <a:srgbClr val="FFFFFF"/>
          </a:solidFill>
          <a:ln/>
        </p:spPr>
      </p:sp>
      <p:sp>
        <p:nvSpPr>
          <p:cNvPr id="16" name="Shape 14"/>
          <p:cNvSpPr/>
          <p:nvPr/>
        </p:nvSpPr>
        <p:spPr>
          <a:xfrm>
            <a:off x="457200" y="2697480"/>
            <a:ext cx="91440" cy="1417320"/>
          </a:xfrm>
          <a:prstGeom prst="rect">
            <a:avLst/>
          </a:prstGeom>
          <a:solidFill>
            <a:srgbClr val="1F7A72"/>
          </a:solidFill>
          <a:ln/>
        </p:spPr>
      </p:sp>
      <p:sp>
        <p:nvSpPr>
          <p:cNvPr id="17" name="Text 15"/>
          <p:cNvSpPr/>
          <p:nvPr/>
        </p:nvSpPr>
        <p:spPr>
          <a:xfrm>
            <a:off x="749808" y="2898648"/>
            <a:ext cx="1005840" cy="329184"/>
          </a:xfrm>
          <a:prstGeom prst="rect">
            <a:avLst/>
          </a:prstGeom>
          <a:noFill/>
          <a:ln/>
        </p:spPr>
        <p:txBody>
          <a:bodyPr wrap="square" lIns="0" tIns="0" rIns="0" bIns="0" rtlCol="0" anchor="ctr"/>
          <a:lstStyle/>
          <a:p>
            <a:pPr indent="0" marL="0">
              <a:buNone/>
            </a:pPr>
            <a:r>
              <a:rPr lang="en-US" sz="2000" dirty="0">
                <a:solidFill>
                  <a:srgbClr val="1F7A72"/>
                </a:solidFill>
                <a:latin typeface="Georgia" pitchFamily="34" charset="0"/>
                <a:ea typeface="Georgia" pitchFamily="34" charset="-122"/>
                <a:cs typeface="Georgia" pitchFamily="34" charset="-120"/>
              </a:rPr>
              <a:t>03</a:t>
            </a:r>
            <a:endParaRPr lang="en-US" sz="2000" dirty="0"/>
          </a:p>
        </p:txBody>
      </p:sp>
      <p:sp>
        <p:nvSpPr>
          <p:cNvPr id="18" name="Text 16"/>
          <p:cNvSpPr/>
          <p:nvPr/>
        </p:nvSpPr>
        <p:spPr>
          <a:xfrm>
            <a:off x="1783080" y="2916936"/>
            <a:ext cx="4023360" cy="329184"/>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The industry</a:t>
            </a:r>
            <a:endParaRPr lang="en-US" sz="1800" dirty="0"/>
          </a:p>
        </p:txBody>
      </p:sp>
      <p:sp>
        <p:nvSpPr>
          <p:cNvPr id="19" name="Text 17"/>
          <p:cNvSpPr/>
          <p:nvPr/>
        </p:nvSpPr>
        <p:spPr>
          <a:xfrm>
            <a:off x="1783080" y="3319272"/>
            <a:ext cx="4023360" cy="566928"/>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Indian school education and EdTech — a real market, briefly.</a:t>
            </a:r>
            <a:endParaRPr lang="en-US" sz="1400" dirty="0"/>
          </a:p>
        </p:txBody>
      </p:sp>
      <p:sp>
        <p:nvSpPr>
          <p:cNvPr id="20" name="Shape 18"/>
          <p:cNvSpPr/>
          <p:nvPr/>
        </p:nvSpPr>
        <p:spPr>
          <a:xfrm>
            <a:off x="6263640" y="2697480"/>
            <a:ext cx="5577840" cy="1417320"/>
          </a:xfrm>
          <a:prstGeom prst="roundRect">
            <a:avLst>
              <a:gd name="adj" fmla="val 5161"/>
            </a:avLst>
          </a:prstGeom>
          <a:solidFill>
            <a:srgbClr val="FFFFFF"/>
          </a:solidFill>
          <a:ln/>
        </p:spPr>
      </p:sp>
      <p:sp>
        <p:nvSpPr>
          <p:cNvPr id="21" name="Shape 19"/>
          <p:cNvSpPr/>
          <p:nvPr/>
        </p:nvSpPr>
        <p:spPr>
          <a:xfrm>
            <a:off x="6263640" y="2697480"/>
            <a:ext cx="91440" cy="1417320"/>
          </a:xfrm>
          <a:prstGeom prst="rect">
            <a:avLst/>
          </a:prstGeom>
          <a:solidFill>
            <a:srgbClr val="1F7A72"/>
          </a:solidFill>
          <a:ln/>
        </p:spPr>
      </p:sp>
      <p:sp>
        <p:nvSpPr>
          <p:cNvPr id="22" name="Text 20"/>
          <p:cNvSpPr/>
          <p:nvPr/>
        </p:nvSpPr>
        <p:spPr>
          <a:xfrm>
            <a:off x="6556248" y="2898648"/>
            <a:ext cx="1005840" cy="329184"/>
          </a:xfrm>
          <a:prstGeom prst="rect">
            <a:avLst/>
          </a:prstGeom>
          <a:noFill/>
          <a:ln/>
        </p:spPr>
        <p:txBody>
          <a:bodyPr wrap="square" lIns="0" tIns="0" rIns="0" bIns="0" rtlCol="0" anchor="ctr"/>
          <a:lstStyle/>
          <a:p>
            <a:pPr indent="0" marL="0">
              <a:buNone/>
            </a:pPr>
            <a:r>
              <a:rPr lang="en-US" sz="2000" dirty="0">
                <a:solidFill>
                  <a:srgbClr val="1F7A72"/>
                </a:solidFill>
                <a:latin typeface="Georgia" pitchFamily="34" charset="0"/>
                <a:ea typeface="Georgia" pitchFamily="34" charset="-122"/>
                <a:cs typeface="Georgia" pitchFamily="34" charset="-120"/>
              </a:rPr>
              <a:t>04</a:t>
            </a:r>
            <a:endParaRPr lang="en-US" sz="2000" dirty="0"/>
          </a:p>
        </p:txBody>
      </p:sp>
      <p:sp>
        <p:nvSpPr>
          <p:cNvPr id="23" name="Text 21"/>
          <p:cNvSpPr/>
          <p:nvPr/>
        </p:nvSpPr>
        <p:spPr>
          <a:xfrm>
            <a:off x="7589520" y="2916936"/>
            <a:ext cx="4023360" cy="329184"/>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The company</a:t>
            </a:r>
            <a:endParaRPr lang="en-US" sz="1800" dirty="0"/>
          </a:p>
        </p:txBody>
      </p:sp>
      <p:sp>
        <p:nvSpPr>
          <p:cNvPr id="24" name="Text 22"/>
          <p:cNvSpPr/>
          <p:nvPr/>
        </p:nvSpPr>
        <p:spPr>
          <a:xfrm>
            <a:off x="7589520" y="3319272"/>
            <a:ext cx="4023360" cy="566928"/>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Vidyanta: name, logo, business, vision and mission.</a:t>
            </a:r>
            <a:endParaRPr lang="en-US" sz="1400" dirty="0"/>
          </a:p>
        </p:txBody>
      </p:sp>
      <p:sp>
        <p:nvSpPr>
          <p:cNvPr id="25" name="Shape 23"/>
          <p:cNvSpPr/>
          <p:nvPr/>
        </p:nvSpPr>
        <p:spPr>
          <a:xfrm>
            <a:off x="457200" y="4297680"/>
            <a:ext cx="5577840" cy="1417320"/>
          </a:xfrm>
          <a:prstGeom prst="roundRect">
            <a:avLst>
              <a:gd name="adj" fmla="val 5161"/>
            </a:avLst>
          </a:prstGeom>
          <a:solidFill>
            <a:srgbClr val="FFFFFF"/>
          </a:solidFill>
          <a:ln/>
        </p:spPr>
      </p:sp>
      <p:sp>
        <p:nvSpPr>
          <p:cNvPr id="26" name="Shape 24"/>
          <p:cNvSpPr/>
          <p:nvPr/>
        </p:nvSpPr>
        <p:spPr>
          <a:xfrm>
            <a:off x="457200" y="4297680"/>
            <a:ext cx="91440" cy="1417320"/>
          </a:xfrm>
          <a:prstGeom prst="rect">
            <a:avLst/>
          </a:prstGeom>
          <a:solidFill>
            <a:srgbClr val="C98412"/>
          </a:solidFill>
          <a:ln/>
        </p:spPr>
      </p:sp>
      <p:sp>
        <p:nvSpPr>
          <p:cNvPr id="27" name="Text 25"/>
          <p:cNvSpPr/>
          <p:nvPr/>
        </p:nvSpPr>
        <p:spPr>
          <a:xfrm>
            <a:off x="749808" y="4498848"/>
            <a:ext cx="1005840" cy="329184"/>
          </a:xfrm>
          <a:prstGeom prst="rect">
            <a:avLst/>
          </a:prstGeom>
          <a:noFill/>
          <a:ln/>
        </p:spPr>
        <p:txBody>
          <a:bodyPr wrap="square" lIns="0" tIns="0" rIns="0" bIns="0" rtlCol="0" anchor="ctr"/>
          <a:lstStyle/>
          <a:p>
            <a:pPr indent="0" marL="0">
              <a:buNone/>
            </a:pPr>
            <a:r>
              <a:rPr lang="en-US" sz="2000" dirty="0">
                <a:solidFill>
                  <a:srgbClr val="1F7A72"/>
                </a:solidFill>
                <a:latin typeface="Georgia" pitchFamily="34" charset="0"/>
                <a:ea typeface="Georgia" pitchFamily="34" charset="-122"/>
                <a:cs typeface="Georgia" pitchFamily="34" charset="-120"/>
              </a:rPr>
              <a:t>05</a:t>
            </a:r>
            <a:endParaRPr lang="en-US" sz="2000" dirty="0"/>
          </a:p>
        </p:txBody>
      </p:sp>
      <p:sp>
        <p:nvSpPr>
          <p:cNvPr id="28" name="Text 26"/>
          <p:cNvSpPr/>
          <p:nvPr/>
        </p:nvSpPr>
        <p:spPr>
          <a:xfrm>
            <a:off x="1783080" y="4517136"/>
            <a:ext cx="4023360" cy="329184"/>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The communication system</a:t>
            </a:r>
            <a:endParaRPr lang="en-US" sz="1800" dirty="0"/>
          </a:p>
        </p:txBody>
      </p:sp>
      <p:sp>
        <p:nvSpPr>
          <p:cNvPr id="29" name="Text 27"/>
          <p:cNvSpPr/>
          <p:nvPr/>
        </p:nvSpPr>
        <p:spPr>
          <a:xfrm>
            <a:off x="1783080" y="4919472"/>
            <a:ext cx="4023360" cy="566928"/>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Website as the anchor, then every other stakeholder channel.</a:t>
            </a:r>
            <a:endParaRPr lang="en-US" sz="1400" dirty="0"/>
          </a:p>
        </p:txBody>
      </p:sp>
      <p:sp>
        <p:nvSpPr>
          <p:cNvPr id="30" name="Shape 28"/>
          <p:cNvSpPr/>
          <p:nvPr/>
        </p:nvSpPr>
        <p:spPr>
          <a:xfrm>
            <a:off x="6263640" y="4297680"/>
            <a:ext cx="5577840" cy="1417320"/>
          </a:xfrm>
          <a:prstGeom prst="roundRect">
            <a:avLst>
              <a:gd name="adj" fmla="val 5161"/>
            </a:avLst>
          </a:prstGeom>
          <a:solidFill>
            <a:srgbClr val="FFFFFF"/>
          </a:solidFill>
          <a:ln/>
        </p:spPr>
      </p:sp>
      <p:sp>
        <p:nvSpPr>
          <p:cNvPr id="31" name="Shape 29"/>
          <p:cNvSpPr/>
          <p:nvPr/>
        </p:nvSpPr>
        <p:spPr>
          <a:xfrm>
            <a:off x="6263640" y="4297680"/>
            <a:ext cx="91440" cy="1417320"/>
          </a:xfrm>
          <a:prstGeom prst="rect">
            <a:avLst/>
          </a:prstGeom>
          <a:solidFill>
            <a:srgbClr val="C98412"/>
          </a:solidFill>
          <a:ln/>
        </p:spPr>
      </p:sp>
      <p:sp>
        <p:nvSpPr>
          <p:cNvPr id="32" name="Text 30"/>
          <p:cNvSpPr/>
          <p:nvPr/>
        </p:nvSpPr>
        <p:spPr>
          <a:xfrm>
            <a:off x="6556248" y="4498848"/>
            <a:ext cx="1005840" cy="329184"/>
          </a:xfrm>
          <a:prstGeom prst="rect">
            <a:avLst/>
          </a:prstGeom>
          <a:noFill/>
          <a:ln/>
        </p:spPr>
        <p:txBody>
          <a:bodyPr wrap="square" lIns="0" tIns="0" rIns="0" bIns="0" rtlCol="0" anchor="ctr"/>
          <a:lstStyle/>
          <a:p>
            <a:pPr indent="0" marL="0">
              <a:buNone/>
            </a:pPr>
            <a:r>
              <a:rPr lang="en-US" sz="2000" dirty="0">
                <a:solidFill>
                  <a:srgbClr val="1F7A72"/>
                </a:solidFill>
                <a:latin typeface="Georgia" pitchFamily="34" charset="0"/>
                <a:ea typeface="Georgia" pitchFamily="34" charset="-122"/>
                <a:cs typeface="Georgia" pitchFamily="34" charset="-120"/>
              </a:rPr>
              <a:t>06</a:t>
            </a:r>
            <a:endParaRPr lang="en-US" sz="2000" dirty="0"/>
          </a:p>
        </p:txBody>
      </p:sp>
      <p:sp>
        <p:nvSpPr>
          <p:cNvPr id="33" name="Text 31"/>
          <p:cNvSpPr/>
          <p:nvPr/>
        </p:nvSpPr>
        <p:spPr>
          <a:xfrm>
            <a:off x="7589520" y="4517136"/>
            <a:ext cx="4023360" cy="329184"/>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The plan and the guardrails</a:t>
            </a:r>
            <a:endParaRPr lang="en-US" sz="1800" dirty="0"/>
          </a:p>
        </p:txBody>
      </p:sp>
      <p:sp>
        <p:nvSpPr>
          <p:cNvPr id="34" name="Text 32"/>
          <p:cNvSpPr/>
          <p:nvPr/>
        </p:nvSpPr>
        <p:spPr>
          <a:xfrm>
            <a:off x="7589520" y="4919472"/>
            <a:ext cx="4023360" cy="566928"/>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Three-year path, measurement, risks, recommendations.</a:t>
            </a:r>
            <a:endParaRPr lang="en-US" sz="1400" dirty="0"/>
          </a:p>
        </p:txBody>
      </p:sp>
      <p:sp>
        <p:nvSpPr>
          <p:cNvPr id="35" name="Text 33"/>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36" name="Text 34"/>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02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WHY THIS GOAL, IN THIS INDUSTRY</a:t>
            </a:r>
            <a:endParaRPr lang="en-US" sz="1100" dirty="0"/>
          </a:p>
        </p:txBody>
      </p:sp>
      <p:sp>
        <p:nvSpPr>
          <p:cNvPr id="4" name="Text 2"/>
          <p:cNvSpPr/>
          <p:nvPr/>
        </p:nvSpPr>
        <p:spPr>
          <a:xfrm>
            <a:off x="457200" y="438912"/>
            <a:ext cx="11247120" cy="1051560"/>
          </a:xfrm>
          <a:prstGeom prst="rect">
            <a:avLst/>
          </a:prstGeom>
          <a:noFill/>
          <a:ln/>
        </p:spPr>
        <p:txBody>
          <a:bodyPr wrap="square" lIns="0" tIns="0" rIns="0" bIns="0" rtlCol="0" anchor="ctr"/>
          <a:lstStyle/>
          <a:p>
            <a:pPr indent="0" marL="0">
              <a:buNone/>
            </a:pPr>
            <a:r>
              <a:rPr lang="en-US" sz="2800" dirty="0">
                <a:solidFill>
                  <a:srgbClr val="1B2A4A"/>
                </a:solidFill>
                <a:latin typeface="Georgia" pitchFamily="34" charset="0"/>
                <a:ea typeface="Georgia" pitchFamily="34" charset="-122"/>
                <a:cs typeface="Georgia" pitchFamily="34" charset="-120"/>
              </a:rPr>
              <a:t>India got children into school.</a:t>
            </a:r>
            <a:endParaRPr lang="en-US" sz="2800" dirty="0"/>
          </a:p>
          <a:p>
            <a:pPr indent="0" marL="0">
              <a:buNone/>
            </a:pPr>
            <a:r>
              <a:rPr lang="en-US" sz="2800" dirty="0">
                <a:solidFill>
                  <a:srgbClr val="1B2A4A"/>
                </a:solidFill>
                <a:latin typeface="Georgia" pitchFamily="34" charset="0"/>
                <a:ea typeface="Georgia" pitchFamily="34" charset="-122"/>
                <a:cs typeface="Georgia" pitchFamily="34" charset="-120"/>
              </a:rPr>
              <a:t>It has not yet got them learning.</a:t>
            </a:r>
            <a:endParaRPr lang="en-US" sz="2800" dirty="0"/>
          </a:p>
        </p:txBody>
      </p:sp>
      <p:sp>
        <p:nvSpPr>
          <p:cNvPr id="5" name="Shape 3"/>
          <p:cNvSpPr/>
          <p:nvPr/>
        </p:nvSpPr>
        <p:spPr>
          <a:xfrm>
            <a:off x="457200" y="1691640"/>
            <a:ext cx="2743200" cy="2880360"/>
          </a:xfrm>
          <a:prstGeom prst="roundRect">
            <a:avLst>
              <a:gd name="adj" fmla="val 2667"/>
            </a:avLst>
          </a:prstGeom>
          <a:solidFill>
            <a:srgbClr val="FFFFFF"/>
          </a:solidFill>
          <a:ln/>
        </p:spPr>
      </p:sp>
      <p:sp>
        <p:nvSpPr>
          <p:cNvPr id="6" name="Text 4"/>
          <p:cNvSpPr/>
          <p:nvPr/>
        </p:nvSpPr>
        <p:spPr>
          <a:xfrm>
            <a:off x="457200" y="1901952"/>
            <a:ext cx="2743200" cy="640080"/>
          </a:xfrm>
          <a:prstGeom prst="rect">
            <a:avLst/>
          </a:prstGeom>
          <a:noFill/>
          <a:ln/>
        </p:spPr>
        <p:txBody>
          <a:bodyPr wrap="square" lIns="0" tIns="0" rIns="0" bIns="0" rtlCol="0" anchor="ctr"/>
          <a:lstStyle/>
          <a:p>
            <a:pPr algn="ctr" indent="0" marL="0">
              <a:buNone/>
            </a:pPr>
            <a:r>
              <a:rPr lang="en-US" sz="2800" dirty="0">
                <a:solidFill>
                  <a:srgbClr val="1F7A72"/>
                </a:solidFill>
                <a:latin typeface="Georgia" pitchFamily="34" charset="0"/>
                <a:ea typeface="Georgia" pitchFamily="34" charset="-122"/>
                <a:cs typeface="Georgia" pitchFamily="34" charset="-120"/>
              </a:rPr>
              <a:t>23.4%</a:t>
            </a:r>
            <a:endParaRPr lang="en-US" sz="2800" dirty="0"/>
          </a:p>
        </p:txBody>
      </p:sp>
      <p:sp>
        <p:nvSpPr>
          <p:cNvPr id="7" name="Text 5"/>
          <p:cNvSpPr/>
          <p:nvPr/>
        </p:nvSpPr>
        <p:spPr>
          <a:xfrm>
            <a:off x="603504" y="2633472"/>
            <a:ext cx="2450592" cy="1051560"/>
          </a:xfrm>
          <a:prstGeom prst="rect">
            <a:avLst/>
          </a:prstGeom>
          <a:noFill/>
          <a:ln/>
        </p:spPr>
        <p:txBody>
          <a:bodyPr wrap="square" lIns="0" tIns="0" rIns="0" bIns="0" rtlCol="0" anchor="ctr"/>
          <a:lstStyle/>
          <a:p>
            <a:pPr algn="ctr" indent="0" marL="0">
              <a:buNone/>
            </a:pPr>
            <a:r>
              <a:rPr lang="en-US" sz="1400" dirty="0">
                <a:solidFill>
                  <a:srgbClr val="1B2A4A"/>
                </a:solidFill>
                <a:latin typeface="Calibri" pitchFamily="34" charset="0"/>
                <a:ea typeface="Calibri" pitchFamily="34" charset="-122"/>
                <a:cs typeface="Calibri" pitchFamily="34" charset="-120"/>
              </a:rPr>
              <a:t>Rural Class 3 children who can</a:t>
            </a:r>
            <a:endParaRPr lang="en-US" sz="1400" dirty="0"/>
          </a:p>
          <a:p>
            <a:pPr algn="ctr" indent="0" marL="0">
              <a:buNone/>
            </a:pPr>
            <a:r>
              <a:rPr lang="en-US" sz="1400" dirty="0">
                <a:solidFill>
                  <a:srgbClr val="1B2A4A"/>
                </a:solidFill>
                <a:latin typeface="Calibri" pitchFamily="34" charset="0"/>
                <a:ea typeface="Calibri" pitchFamily="34" charset="-122"/>
                <a:cs typeface="Calibri" pitchFamily="34" charset="-120"/>
              </a:rPr>
              <a:t>read a Class 2 text</a:t>
            </a:r>
            <a:endParaRPr lang="en-US" sz="1400" dirty="0"/>
          </a:p>
        </p:txBody>
      </p:sp>
      <p:sp>
        <p:nvSpPr>
          <p:cNvPr id="8" name="Text 6"/>
          <p:cNvSpPr/>
          <p:nvPr/>
        </p:nvSpPr>
        <p:spPr>
          <a:xfrm>
            <a:off x="603504" y="3977640"/>
            <a:ext cx="2450592" cy="320040"/>
          </a:xfrm>
          <a:prstGeom prst="rect">
            <a:avLst/>
          </a:prstGeom>
          <a:noFill/>
          <a:ln/>
        </p:spPr>
        <p:txBody>
          <a:bodyPr wrap="square" lIns="0" tIns="0" rIns="0" bIns="0" rtlCol="0" anchor="ctr"/>
          <a:lstStyle/>
          <a:p>
            <a:pPr algn="ctr" indent="0" marL="0">
              <a:buNone/>
            </a:pPr>
            <a:r>
              <a:rPr lang="en-US" sz="1100" i="1" dirty="0">
                <a:solidFill>
                  <a:srgbClr val="5B6A7A"/>
                </a:solidFill>
                <a:latin typeface="Calibri" pitchFamily="34" charset="0"/>
                <a:ea typeface="Calibri" pitchFamily="34" charset="-122"/>
                <a:cs typeface="Calibri" pitchFamily="34" charset="-120"/>
              </a:rPr>
              <a:t>ASER 2024</a:t>
            </a:r>
            <a:endParaRPr lang="en-US" sz="1100" dirty="0"/>
          </a:p>
        </p:txBody>
      </p:sp>
      <p:sp>
        <p:nvSpPr>
          <p:cNvPr id="9" name="Shape 7"/>
          <p:cNvSpPr/>
          <p:nvPr/>
        </p:nvSpPr>
        <p:spPr>
          <a:xfrm>
            <a:off x="3337560" y="1691640"/>
            <a:ext cx="2743200" cy="2880360"/>
          </a:xfrm>
          <a:prstGeom prst="roundRect">
            <a:avLst>
              <a:gd name="adj" fmla="val 2667"/>
            </a:avLst>
          </a:prstGeom>
          <a:solidFill>
            <a:srgbClr val="FFFFFF"/>
          </a:solidFill>
          <a:ln/>
        </p:spPr>
      </p:sp>
      <p:sp>
        <p:nvSpPr>
          <p:cNvPr id="10" name="Text 8"/>
          <p:cNvSpPr/>
          <p:nvPr/>
        </p:nvSpPr>
        <p:spPr>
          <a:xfrm>
            <a:off x="3337560" y="1901952"/>
            <a:ext cx="2743200" cy="640080"/>
          </a:xfrm>
          <a:prstGeom prst="rect">
            <a:avLst/>
          </a:prstGeom>
          <a:noFill/>
          <a:ln/>
        </p:spPr>
        <p:txBody>
          <a:bodyPr wrap="square" lIns="0" tIns="0" rIns="0" bIns="0" rtlCol="0" anchor="ctr"/>
          <a:lstStyle/>
          <a:p>
            <a:pPr algn="ctr" indent="0" marL="0">
              <a:buNone/>
            </a:pPr>
            <a:r>
              <a:rPr lang="en-US" sz="2800" dirty="0">
                <a:solidFill>
                  <a:srgbClr val="1F7A72"/>
                </a:solidFill>
                <a:latin typeface="Georgia" pitchFamily="34" charset="0"/>
                <a:ea typeface="Georgia" pitchFamily="34" charset="-122"/>
                <a:cs typeface="Georgia" pitchFamily="34" charset="-120"/>
              </a:rPr>
              <a:t>56.2%</a:t>
            </a:r>
            <a:endParaRPr lang="en-US" sz="2800" dirty="0"/>
          </a:p>
        </p:txBody>
      </p:sp>
      <p:sp>
        <p:nvSpPr>
          <p:cNvPr id="11" name="Text 9"/>
          <p:cNvSpPr/>
          <p:nvPr/>
        </p:nvSpPr>
        <p:spPr>
          <a:xfrm>
            <a:off x="3483864" y="2633472"/>
            <a:ext cx="2450592" cy="1051560"/>
          </a:xfrm>
          <a:prstGeom prst="rect">
            <a:avLst/>
          </a:prstGeom>
          <a:noFill/>
          <a:ln/>
        </p:spPr>
        <p:txBody>
          <a:bodyPr wrap="square" lIns="0" tIns="0" rIns="0" bIns="0" rtlCol="0" anchor="ctr"/>
          <a:lstStyle/>
          <a:p>
            <a:pPr algn="ctr" indent="0" marL="0">
              <a:buNone/>
            </a:pPr>
            <a:r>
              <a:rPr lang="en-US" sz="1400" dirty="0">
                <a:solidFill>
                  <a:srgbClr val="1B2A4A"/>
                </a:solidFill>
                <a:latin typeface="Calibri" pitchFamily="34" charset="0"/>
                <a:ea typeface="Calibri" pitchFamily="34" charset="-122"/>
                <a:cs typeface="Calibri" pitchFamily="34" charset="-120"/>
              </a:rPr>
              <a:t>Gross Enrolment Ratio at</a:t>
            </a:r>
            <a:endParaRPr lang="en-US" sz="1400" dirty="0"/>
          </a:p>
          <a:p>
            <a:pPr algn="ctr" indent="0" marL="0">
              <a:buNone/>
            </a:pPr>
            <a:r>
              <a:rPr lang="en-US" sz="1400" dirty="0">
                <a:solidFill>
                  <a:srgbClr val="1B2A4A"/>
                </a:solidFill>
                <a:latin typeface="Calibri" pitchFamily="34" charset="0"/>
                <a:ea typeface="Calibri" pitchFamily="34" charset="-122"/>
                <a:cs typeface="Calibri" pitchFamily="34" charset="-120"/>
              </a:rPr>
              <a:t>higher secondary</a:t>
            </a:r>
            <a:endParaRPr lang="en-US" sz="1400" dirty="0"/>
          </a:p>
        </p:txBody>
      </p:sp>
      <p:sp>
        <p:nvSpPr>
          <p:cNvPr id="12" name="Text 10"/>
          <p:cNvSpPr/>
          <p:nvPr/>
        </p:nvSpPr>
        <p:spPr>
          <a:xfrm>
            <a:off x="3483864" y="3977640"/>
            <a:ext cx="2450592" cy="320040"/>
          </a:xfrm>
          <a:prstGeom prst="rect">
            <a:avLst/>
          </a:prstGeom>
          <a:noFill/>
          <a:ln/>
        </p:spPr>
        <p:txBody>
          <a:bodyPr wrap="square" lIns="0" tIns="0" rIns="0" bIns="0" rtlCol="0" anchor="ctr"/>
          <a:lstStyle/>
          <a:p>
            <a:pPr algn="ctr" indent="0" marL="0">
              <a:buNone/>
            </a:pPr>
            <a:r>
              <a:rPr lang="en-US" sz="1100" i="1" dirty="0">
                <a:solidFill>
                  <a:srgbClr val="5B6A7A"/>
                </a:solidFill>
                <a:latin typeface="Calibri" pitchFamily="34" charset="0"/>
                <a:ea typeface="Calibri" pitchFamily="34" charset="-122"/>
                <a:cs typeface="Calibri" pitchFamily="34" charset="-120"/>
              </a:rPr>
              <a:t>UDISE+ 2023–24</a:t>
            </a:r>
            <a:endParaRPr lang="en-US" sz="1100" dirty="0"/>
          </a:p>
        </p:txBody>
      </p:sp>
      <p:sp>
        <p:nvSpPr>
          <p:cNvPr id="13" name="Shape 11"/>
          <p:cNvSpPr/>
          <p:nvPr/>
        </p:nvSpPr>
        <p:spPr>
          <a:xfrm>
            <a:off x="6217920" y="1691640"/>
            <a:ext cx="2743200" cy="2880360"/>
          </a:xfrm>
          <a:prstGeom prst="roundRect">
            <a:avLst>
              <a:gd name="adj" fmla="val 2667"/>
            </a:avLst>
          </a:prstGeom>
          <a:solidFill>
            <a:srgbClr val="FFFFFF"/>
          </a:solidFill>
          <a:ln/>
        </p:spPr>
      </p:sp>
      <p:sp>
        <p:nvSpPr>
          <p:cNvPr id="14" name="Text 12"/>
          <p:cNvSpPr/>
          <p:nvPr/>
        </p:nvSpPr>
        <p:spPr>
          <a:xfrm>
            <a:off x="6217920" y="1901952"/>
            <a:ext cx="2743200" cy="640080"/>
          </a:xfrm>
          <a:prstGeom prst="rect">
            <a:avLst/>
          </a:prstGeom>
          <a:noFill/>
          <a:ln/>
        </p:spPr>
        <p:txBody>
          <a:bodyPr wrap="square" lIns="0" tIns="0" rIns="0" bIns="0" rtlCol="0" anchor="ctr"/>
          <a:lstStyle/>
          <a:p>
            <a:pPr algn="ctr" indent="0" marL="0">
              <a:buNone/>
            </a:pPr>
            <a:r>
              <a:rPr lang="en-US" sz="2800" dirty="0">
                <a:solidFill>
                  <a:srgbClr val="1F7A72"/>
                </a:solidFill>
                <a:latin typeface="Georgia" pitchFamily="34" charset="0"/>
                <a:ea typeface="Georgia" pitchFamily="34" charset="-122"/>
                <a:cs typeface="Georgia" pitchFamily="34" charset="-120"/>
              </a:rPr>
              <a:t>61 / 100</a:t>
            </a:r>
            <a:endParaRPr lang="en-US" sz="2800" dirty="0"/>
          </a:p>
        </p:txBody>
      </p:sp>
      <p:sp>
        <p:nvSpPr>
          <p:cNvPr id="15" name="Text 13"/>
          <p:cNvSpPr/>
          <p:nvPr/>
        </p:nvSpPr>
        <p:spPr>
          <a:xfrm>
            <a:off x="6364224" y="2633472"/>
            <a:ext cx="2450592" cy="1051560"/>
          </a:xfrm>
          <a:prstGeom prst="rect">
            <a:avLst/>
          </a:prstGeom>
          <a:noFill/>
          <a:ln/>
        </p:spPr>
        <p:txBody>
          <a:bodyPr wrap="square" lIns="0" tIns="0" rIns="0" bIns="0" rtlCol="0" anchor="ctr"/>
          <a:lstStyle/>
          <a:p>
            <a:pPr algn="ctr" indent="0" marL="0">
              <a:buNone/>
            </a:pPr>
            <a:r>
              <a:rPr lang="en-US" sz="1400" dirty="0">
                <a:solidFill>
                  <a:srgbClr val="1B2A4A"/>
                </a:solidFill>
                <a:latin typeface="Calibri" pitchFamily="34" charset="0"/>
                <a:ea typeface="Calibri" pitchFamily="34" charset="-122"/>
                <a:cs typeface="Calibri" pitchFamily="34" charset="-120"/>
              </a:rPr>
              <a:t>India’s NITI Aayog score</a:t>
            </a:r>
            <a:endParaRPr lang="en-US" sz="1400" dirty="0"/>
          </a:p>
          <a:p>
            <a:pPr algn="ctr" indent="0" marL="0">
              <a:buNone/>
            </a:pPr>
            <a:r>
              <a:rPr lang="en-US" sz="1400" dirty="0">
                <a:solidFill>
                  <a:srgbClr val="1B2A4A"/>
                </a:solidFill>
                <a:latin typeface="Calibri" pitchFamily="34" charset="0"/>
                <a:ea typeface="Calibri" pitchFamily="34" charset="-122"/>
                <a:cs typeface="Calibri" pitchFamily="34" charset="-120"/>
              </a:rPr>
              <a:t>on Goal 4</a:t>
            </a:r>
            <a:endParaRPr lang="en-US" sz="1400" dirty="0"/>
          </a:p>
        </p:txBody>
      </p:sp>
      <p:sp>
        <p:nvSpPr>
          <p:cNvPr id="16" name="Text 14"/>
          <p:cNvSpPr/>
          <p:nvPr/>
        </p:nvSpPr>
        <p:spPr>
          <a:xfrm>
            <a:off x="6364224" y="3977640"/>
            <a:ext cx="2450592" cy="320040"/>
          </a:xfrm>
          <a:prstGeom prst="rect">
            <a:avLst/>
          </a:prstGeom>
          <a:noFill/>
          <a:ln/>
        </p:spPr>
        <p:txBody>
          <a:bodyPr wrap="square" lIns="0" tIns="0" rIns="0" bIns="0" rtlCol="0" anchor="ctr"/>
          <a:lstStyle/>
          <a:p>
            <a:pPr algn="ctr" indent="0" marL="0">
              <a:buNone/>
            </a:pPr>
            <a:r>
              <a:rPr lang="en-US" sz="1100" i="1" dirty="0">
                <a:solidFill>
                  <a:srgbClr val="5B6A7A"/>
                </a:solidFill>
                <a:latin typeface="Calibri" pitchFamily="34" charset="0"/>
                <a:ea typeface="Calibri" pitchFamily="34" charset="-122"/>
                <a:cs typeface="Calibri" pitchFamily="34" charset="-120"/>
              </a:rPr>
              <a:t>SDG India Index 2023–24</a:t>
            </a:r>
            <a:endParaRPr lang="en-US" sz="1100" dirty="0"/>
          </a:p>
        </p:txBody>
      </p:sp>
      <p:sp>
        <p:nvSpPr>
          <p:cNvPr id="17" name="Shape 15"/>
          <p:cNvSpPr/>
          <p:nvPr/>
        </p:nvSpPr>
        <p:spPr>
          <a:xfrm>
            <a:off x="9098280" y="1691640"/>
            <a:ext cx="2743200" cy="2880360"/>
          </a:xfrm>
          <a:prstGeom prst="roundRect">
            <a:avLst>
              <a:gd name="adj" fmla="val 2667"/>
            </a:avLst>
          </a:prstGeom>
          <a:solidFill>
            <a:srgbClr val="FFFFFF"/>
          </a:solidFill>
          <a:ln/>
        </p:spPr>
      </p:sp>
      <p:sp>
        <p:nvSpPr>
          <p:cNvPr id="18" name="Text 16"/>
          <p:cNvSpPr/>
          <p:nvPr/>
        </p:nvSpPr>
        <p:spPr>
          <a:xfrm>
            <a:off x="9098280" y="1901952"/>
            <a:ext cx="2743200" cy="640080"/>
          </a:xfrm>
          <a:prstGeom prst="rect">
            <a:avLst/>
          </a:prstGeom>
          <a:noFill/>
          <a:ln/>
        </p:spPr>
        <p:txBody>
          <a:bodyPr wrap="square" lIns="0" tIns="0" rIns="0" bIns="0" rtlCol="0" anchor="ctr"/>
          <a:lstStyle/>
          <a:p>
            <a:pPr algn="ctr" indent="0" marL="0">
              <a:buNone/>
            </a:pPr>
            <a:r>
              <a:rPr lang="en-US" sz="2800" dirty="0">
                <a:solidFill>
                  <a:srgbClr val="1F7A72"/>
                </a:solidFill>
                <a:latin typeface="Georgia" pitchFamily="34" charset="0"/>
                <a:ea typeface="Georgia" pitchFamily="34" charset="-122"/>
                <a:cs typeface="Georgia" pitchFamily="34" charset="-120"/>
              </a:rPr>
              <a:t>~54%</a:t>
            </a:r>
            <a:endParaRPr lang="en-US" sz="2800" dirty="0"/>
          </a:p>
        </p:txBody>
      </p:sp>
      <p:sp>
        <p:nvSpPr>
          <p:cNvPr id="19" name="Text 17"/>
          <p:cNvSpPr/>
          <p:nvPr/>
        </p:nvSpPr>
        <p:spPr>
          <a:xfrm>
            <a:off x="9244584" y="2633472"/>
            <a:ext cx="2450592" cy="1051560"/>
          </a:xfrm>
          <a:prstGeom prst="rect">
            <a:avLst/>
          </a:prstGeom>
          <a:noFill/>
          <a:ln/>
        </p:spPr>
        <p:txBody>
          <a:bodyPr wrap="square" lIns="0" tIns="0" rIns="0" bIns="0" rtlCol="0" anchor="ctr"/>
          <a:lstStyle/>
          <a:p>
            <a:pPr algn="ctr" indent="0" marL="0">
              <a:buNone/>
            </a:pPr>
            <a:r>
              <a:rPr lang="en-US" sz="1400" dirty="0">
                <a:solidFill>
                  <a:srgbClr val="1B2A4A"/>
                </a:solidFill>
                <a:latin typeface="Calibri" pitchFamily="34" charset="0"/>
                <a:ea typeface="Calibri" pitchFamily="34" charset="-122"/>
                <a:cs typeface="Calibri" pitchFamily="34" charset="-120"/>
              </a:rPr>
              <a:t>Schools with internet</a:t>
            </a:r>
            <a:endParaRPr lang="en-US" sz="1400" dirty="0"/>
          </a:p>
          <a:p>
            <a:pPr algn="ctr" indent="0" marL="0">
              <a:buNone/>
            </a:pPr>
            <a:r>
              <a:rPr lang="en-US" sz="1400" dirty="0">
                <a:solidFill>
                  <a:srgbClr val="1B2A4A"/>
                </a:solidFill>
                <a:latin typeface="Calibri" pitchFamily="34" charset="0"/>
                <a:ea typeface="Calibri" pitchFamily="34" charset="-122"/>
                <a:cs typeface="Calibri" pitchFamily="34" charset="-120"/>
              </a:rPr>
              <a:t>access</a:t>
            </a:r>
            <a:endParaRPr lang="en-US" sz="1400" dirty="0"/>
          </a:p>
        </p:txBody>
      </p:sp>
      <p:sp>
        <p:nvSpPr>
          <p:cNvPr id="20" name="Text 18"/>
          <p:cNvSpPr/>
          <p:nvPr/>
        </p:nvSpPr>
        <p:spPr>
          <a:xfrm>
            <a:off x="9244584" y="3977640"/>
            <a:ext cx="2450592" cy="320040"/>
          </a:xfrm>
          <a:prstGeom prst="rect">
            <a:avLst/>
          </a:prstGeom>
          <a:noFill/>
          <a:ln/>
        </p:spPr>
        <p:txBody>
          <a:bodyPr wrap="square" lIns="0" tIns="0" rIns="0" bIns="0" rtlCol="0" anchor="ctr"/>
          <a:lstStyle/>
          <a:p>
            <a:pPr algn="ctr" indent="0" marL="0">
              <a:buNone/>
            </a:pPr>
            <a:r>
              <a:rPr lang="en-US" sz="1100" i="1" dirty="0">
                <a:solidFill>
                  <a:srgbClr val="5B6A7A"/>
                </a:solidFill>
                <a:latin typeface="Calibri" pitchFamily="34" charset="0"/>
                <a:ea typeface="Calibri" pitchFamily="34" charset="-122"/>
                <a:cs typeface="Calibri" pitchFamily="34" charset="-120"/>
              </a:rPr>
              <a:t>UDISE+ 2023–24</a:t>
            </a:r>
            <a:endParaRPr lang="en-US" sz="1100" dirty="0"/>
          </a:p>
        </p:txBody>
      </p:sp>
      <p:sp>
        <p:nvSpPr>
          <p:cNvPr id="21" name="Shape 19"/>
          <p:cNvSpPr/>
          <p:nvPr/>
        </p:nvSpPr>
        <p:spPr>
          <a:xfrm>
            <a:off x="457200" y="4754880"/>
            <a:ext cx="11247120" cy="1554480"/>
          </a:xfrm>
          <a:prstGeom prst="roundRect">
            <a:avLst>
              <a:gd name="adj" fmla="val 4706"/>
            </a:avLst>
          </a:prstGeom>
          <a:solidFill>
            <a:srgbClr val="1B2A4A"/>
          </a:solidFill>
          <a:ln/>
        </p:spPr>
      </p:sp>
      <p:sp>
        <p:nvSpPr>
          <p:cNvPr id="22" name="Text 20"/>
          <p:cNvSpPr/>
          <p:nvPr/>
        </p:nvSpPr>
        <p:spPr>
          <a:xfrm>
            <a:off x="685800" y="4919472"/>
            <a:ext cx="10789920" cy="274320"/>
          </a:xfrm>
          <a:prstGeom prst="rect">
            <a:avLst/>
          </a:prstGeom>
          <a:noFill/>
          <a:ln/>
        </p:spPr>
        <p:txBody>
          <a:bodyPr wrap="square" lIns="0" tIns="0" rIns="0" bIns="0" rtlCol="0" anchor="ctr"/>
          <a:lstStyle/>
          <a:p>
            <a:pPr indent="0" marL="0">
              <a:buNone/>
            </a:pPr>
            <a:r>
              <a:rPr lang="en-US" sz="1300" b="1" spc="110" kern="0" dirty="0">
                <a:solidFill>
                  <a:srgbClr val="E8A317"/>
                </a:solidFill>
                <a:latin typeface="Calibri" pitchFamily="34" charset="0"/>
                <a:ea typeface="Calibri" pitchFamily="34" charset="-122"/>
                <a:cs typeface="Calibri" pitchFamily="34" charset="-120"/>
              </a:rPr>
              <a:t>The communication problem</a:t>
            </a:r>
            <a:endParaRPr lang="en-US" sz="1300" dirty="0"/>
          </a:p>
        </p:txBody>
      </p:sp>
      <p:sp>
        <p:nvSpPr>
          <p:cNvPr id="23" name="Text 21"/>
          <p:cNvSpPr/>
          <p:nvPr/>
        </p:nvSpPr>
        <p:spPr>
          <a:xfrm>
            <a:off x="685800" y="5230368"/>
            <a:ext cx="10789920" cy="8686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An education company can show large user numbers and still contribute almost nothing to SDG 4, because reach is not learning. If it only talks about reach, it will be found out. If it says nothing, it loses the trust the sector needs before anyone signs.</a:t>
            </a:r>
            <a:endParaRPr lang="en-US" sz="1600" dirty="0"/>
          </a:p>
        </p:txBody>
      </p:sp>
      <p:sp>
        <p:nvSpPr>
          <p:cNvPr id="24" name="Text 22"/>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25" name="Text 23"/>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03  /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THE UNITED NATIONS GOAL</a:t>
            </a:r>
            <a:endParaRPr lang="en-US" sz="1100" dirty="0"/>
          </a:p>
        </p:txBody>
      </p:sp>
      <p:sp>
        <p:nvSpPr>
          <p:cNvPr id="4" name="Text 2"/>
          <p:cNvSpPr/>
          <p:nvPr/>
        </p:nvSpPr>
        <p:spPr>
          <a:xfrm>
            <a:off x="457200" y="438912"/>
            <a:ext cx="11247120" cy="384048"/>
          </a:xfrm>
          <a:prstGeom prst="rect">
            <a:avLst/>
          </a:prstGeom>
          <a:noFill/>
          <a:ln/>
        </p:spPr>
        <p:txBody>
          <a:bodyPr wrap="square" lIns="0" tIns="0" rIns="0" bIns="0" rtlCol="0" anchor="ctr"/>
          <a:lstStyle/>
          <a:p>
            <a:pPr indent="0" marL="0">
              <a:buNone/>
            </a:pPr>
            <a:r>
              <a:rPr lang="en-US" sz="2800" dirty="0">
                <a:solidFill>
                  <a:srgbClr val="1B2A4A"/>
                </a:solidFill>
                <a:latin typeface="Georgia" pitchFamily="34" charset="0"/>
                <a:ea typeface="Georgia" pitchFamily="34" charset="-122"/>
                <a:cs typeface="Georgia" pitchFamily="34" charset="-120"/>
              </a:rPr>
              <a:t>SDG 4 — Quality Education</a:t>
            </a:r>
            <a:endParaRPr lang="en-US" sz="2800" dirty="0"/>
          </a:p>
        </p:txBody>
      </p:sp>
      <p:sp>
        <p:nvSpPr>
          <p:cNvPr id="5" name="Text 3"/>
          <p:cNvSpPr/>
          <p:nvPr/>
        </p:nvSpPr>
        <p:spPr>
          <a:xfrm>
            <a:off x="457200" y="868680"/>
            <a:ext cx="11247120" cy="365760"/>
          </a:xfrm>
          <a:prstGeom prst="rect">
            <a:avLst/>
          </a:prstGeom>
          <a:noFill/>
          <a:ln/>
        </p:spPr>
        <p:txBody>
          <a:bodyPr wrap="square" lIns="0" tIns="0" rIns="0" bIns="0" rtlCol="0" anchor="ctr"/>
          <a:lstStyle/>
          <a:p>
            <a:pPr indent="0" marL="0">
              <a:buNone/>
            </a:pPr>
            <a:r>
              <a:rPr lang="en-US" sz="1600" i="1" dirty="0">
                <a:solidFill>
                  <a:srgbClr val="5B6A7A"/>
                </a:solidFill>
                <a:latin typeface="Calibri" pitchFamily="34" charset="0"/>
                <a:ea typeface="Calibri" pitchFamily="34" charset="-122"/>
                <a:cs typeface="Calibri" pitchFamily="34" charset="-120"/>
              </a:rPr>
              <a:t>Ensure inclusive and equitable quality education and promote lifelong learning opportunities for all.</a:t>
            </a:r>
            <a:endParaRPr lang="en-US" sz="1600" dirty="0"/>
          </a:p>
        </p:txBody>
      </p:sp>
      <p:sp>
        <p:nvSpPr>
          <p:cNvPr id="6" name="Text 4"/>
          <p:cNvSpPr/>
          <p:nvPr/>
        </p:nvSpPr>
        <p:spPr>
          <a:xfrm>
            <a:off x="457200" y="1371600"/>
            <a:ext cx="7315200" cy="274320"/>
          </a:xfrm>
          <a:prstGeom prst="rect">
            <a:avLst/>
          </a:prstGeom>
          <a:noFill/>
          <a:ln/>
        </p:spPr>
        <p:txBody>
          <a:bodyPr wrap="square" lIns="0" tIns="0" rIns="0" bIns="0" rtlCol="0" anchor="ctr"/>
          <a:lstStyle/>
          <a:p>
            <a:pPr indent="0" marL="0">
              <a:buNone/>
            </a:pPr>
            <a:r>
              <a:rPr lang="en-US" sz="1400" b="1" dirty="0">
                <a:solidFill>
                  <a:srgbClr val="1F7A72"/>
                </a:solidFill>
                <a:latin typeface="Calibri" pitchFamily="34" charset="0"/>
                <a:ea typeface="Calibri" pitchFamily="34" charset="-122"/>
                <a:cs typeface="Calibri" pitchFamily="34" charset="-120"/>
              </a:rPr>
              <a:t>Four targets the business actually affects</a:t>
            </a:r>
            <a:endParaRPr lang="en-US" sz="1400" dirty="0"/>
          </a:p>
        </p:txBody>
      </p:sp>
      <p:sp>
        <p:nvSpPr>
          <p:cNvPr id="7" name="Shape 5"/>
          <p:cNvSpPr/>
          <p:nvPr/>
        </p:nvSpPr>
        <p:spPr>
          <a:xfrm>
            <a:off x="457200" y="1737360"/>
            <a:ext cx="7818120" cy="786384"/>
          </a:xfrm>
          <a:prstGeom prst="roundRect">
            <a:avLst>
              <a:gd name="adj" fmla="val 8140"/>
            </a:avLst>
          </a:prstGeom>
          <a:solidFill>
            <a:srgbClr val="FFFFFF"/>
          </a:solidFill>
          <a:ln/>
        </p:spPr>
      </p:sp>
      <p:sp>
        <p:nvSpPr>
          <p:cNvPr id="8" name="Shape 6"/>
          <p:cNvSpPr/>
          <p:nvPr/>
        </p:nvSpPr>
        <p:spPr>
          <a:xfrm>
            <a:off x="621792" y="1901952"/>
            <a:ext cx="713232" cy="457200"/>
          </a:xfrm>
          <a:prstGeom prst="roundRect">
            <a:avLst>
              <a:gd name="adj" fmla="val 10000"/>
            </a:avLst>
          </a:prstGeom>
          <a:solidFill>
            <a:srgbClr val="E4EEEC"/>
          </a:solidFill>
          <a:ln/>
        </p:spPr>
      </p:sp>
      <p:sp>
        <p:nvSpPr>
          <p:cNvPr id="9" name="Text 7"/>
          <p:cNvSpPr/>
          <p:nvPr/>
        </p:nvSpPr>
        <p:spPr>
          <a:xfrm>
            <a:off x="621792" y="1901952"/>
            <a:ext cx="713232" cy="457200"/>
          </a:xfrm>
          <a:prstGeom prst="rect">
            <a:avLst/>
          </a:prstGeom>
          <a:noFill/>
          <a:ln/>
        </p:spPr>
        <p:txBody>
          <a:bodyPr wrap="square" lIns="0" tIns="0" rIns="0" bIns="0" rtlCol="0" anchor="ctr"/>
          <a:lstStyle/>
          <a:p>
            <a:pPr algn="ctr" indent="0" marL="0">
              <a:buNone/>
            </a:pPr>
            <a:r>
              <a:rPr lang="en-US" sz="1400" b="1" dirty="0">
                <a:solidFill>
                  <a:srgbClr val="165E58"/>
                </a:solidFill>
                <a:latin typeface="Calibri" pitchFamily="34" charset="0"/>
                <a:ea typeface="Calibri" pitchFamily="34" charset="-122"/>
                <a:cs typeface="Calibri" pitchFamily="34" charset="-120"/>
              </a:rPr>
              <a:t>4.1</a:t>
            </a:r>
            <a:endParaRPr lang="en-US" sz="1400" dirty="0"/>
          </a:p>
        </p:txBody>
      </p:sp>
      <p:sp>
        <p:nvSpPr>
          <p:cNvPr id="10" name="Text 8"/>
          <p:cNvSpPr/>
          <p:nvPr/>
        </p:nvSpPr>
        <p:spPr>
          <a:xfrm>
            <a:off x="1481328" y="1828800"/>
            <a:ext cx="6583680" cy="27432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Learning outcomes</a:t>
            </a:r>
            <a:endParaRPr lang="en-US" sz="1600" dirty="0"/>
          </a:p>
        </p:txBody>
      </p:sp>
      <p:sp>
        <p:nvSpPr>
          <p:cNvPr id="11" name="Text 9"/>
          <p:cNvSpPr/>
          <p:nvPr/>
        </p:nvSpPr>
        <p:spPr>
          <a:xfrm>
            <a:off x="1481328" y="2103120"/>
            <a:ext cx="6583680" cy="347472"/>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Primary and secondary education that produces real reading, arithmetic and reasoning — not attendance alone.</a:t>
            </a:r>
            <a:endParaRPr lang="en-US" sz="1300" dirty="0"/>
          </a:p>
        </p:txBody>
      </p:sp>
      <p:sp>
        <p:nvSpPr>
          <p:cNvPr id="12" name="Shape 10"/>
          <p:cNvSpPr/>
          <p:nvPr/>
        </p:nvSpPr>
        <p:spPr>
          <a:xfrm>
            <a:off x="457200" y="2606040"/>
            <a:ext cx="7818120" cy="786384"/>
          </a:xfrm>
          <a:prstGeom prst="roundRect">
            <a:avLst>
              <a:gd name="adj" fmla="val 8140"/>
            </a:avLst>
          </a:prstGeom>
          <a:solidFill>
            <a:srgbClr val="FFFFFF"/>
          </a:solidFill>
          <a:ln/>
        </p:spPr>
      </p:sp>
      <p:sp>
        <p:nvSpPr>
          <p:cNvPr id="13" name="Shape 11"/>
          <p:cNvSpPr/>
          <p:nvPr/>
        </p:nvSpPr>
        <p:spPr>
          <a:xfrm>
            <a:off x="621792" y="2770632"/>
            <a:ext cx="713232" cy="457200"/>
          </a:xfrm>
          <a:prstGeom prst="roundRect">
            <a:avLst>
              <a:gd name="adj" fmla="val 10000"/>
            </a:avLst>
          </a:prstGeom>
          <a:solidFill>
            <a:srgbClr val="E4EEEC"/>
          </a:solidFill>
          <a:ln/>
        </p:spPr>
      </p:sp>
      <p:sp>
        <p:nvSpPr>
          <p:cNvPr id="14" name="Text 12"/>
          <p:cNvSpPr/>
          <p:nvPr/>
        </p:nvSpPr>
        <p:spPr>
          <a:xfrm>
            <a:off x="621792" y="2770632"/>
            <a:ext cx="713232" cy="457200"/>
          </a:xfrm>
          <a:prstGeom prst="rect">
            <a:avLst/>
          </a:prstGeom>
          <a:noFill/>
          <a:ln/>
        </p:spPr>
        <p:txBody>
          <a:bodyPr wrap="square" lIns="0" tIns="0" rIns="0" bIns="0" rtlCol="0" anchor="ctr"/>
          <a:lstStyle/>
          <a:p>
            <a:pPr algn="ctr" indent="0" marL="0">
              <a:buNone/>
            </a:pPr>
            <a:r>
              <a:rPr lang="en-US" sz="1400" b="1" dirty="0">
                <a:solidFill>
                  <a:srgbClr val="165E58"/>
                </a:solidFill>
                <a:latin typeface="Calibri" pitchFamily="34" charset="0"/>
                <a:ea typeface="Calibri" pitchFamily="34" charset="-122"/>
                <a:cs typeface="Calibri" pitchFamily="34" charset="-120"/>
              </a:rPr>
              <a:t>4.4</a:t>
            </a:r>
            <a:endParaRPr lang="en-US" sz="1400" dirty="0"/>
          </a:p>
        </p:txBody>
      </p:sp>
      <p:sp>
        <p:nvSpPr>
          <p:cNvPr id="15" name="Text 13"/>
          <p:cNvSpPr/>
          <p:nvPr/>
        </p:nvSpPr>
        <p:spPr>
          <a:xfrm>
            <a:off x="1481328" y="2697480"/>
            <a:ext cx="6583680" cy="27432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Skills for work</a:t>
            </a:r>
            <a:endParaRPr lang="en-US" sz="1600" dirty="0"/>
          </a:p>
        </p:txBody>
      </p:sp>
      <p:sp>
        <p:nvSpPr>
          <p:cNvPr id="16" name="Text 14"/>
          <p:cNvSpPr/>
          <p:nvPr/>
        </p:nvSpPr>
        <p:spPr>
          <a:xfrm>
            <a:off x="1481328" y="2971800"/>
            <a:ext cx="6583680" cy="347472"/>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Digital and employability modules for Classes 9 and 10, with a short practical assessment.</a:t>
            </a:r>
            <a:endParaRPr lang="en-US" sz="1300" dirty="0"/>
          </a:p>
        </p:txBody>
      </p:sp>
      <p:sp>
        <p:nvSpPr>
          <p:cNvPr id="17" name="Shape 15"/>
          <p:cNvSpPr/>
          <p:nvPr/>
        </p:nvSpPr>
        <p:spPr>
          <a:xfrm>
            <a:off x="457200" y="3474720"/>
            <a:ext cx="7818120" cy="786384"/>
          </a:xfrm>
          <a:prstGeom prst="roundRect">
            <a:avLst>
              <a:gd name="adj" fmla="val 8140"/>
            </a:avLst>
          </a:prstGeom>
          <a:solidFill>
            <a:srgbClr val="FFFFFF"/>
          </a:solidFill>
          <a:ln/>
        </p:spPr>
      </p:sp>
      <p:sp>
        <p:nvSpPr>
          <p:cNvPr id="18" name="Shape 16"/>
          <p:cNvSpPr/>
          <p:nvPr/>
        </p:nvSpPr>
        <p:spPr>
          <a:xfrm>
            <a:off x="621792" y="3639312"/>
            <a:ext cx="713232" cy="457200"/>
          </a:xfrm>
          <a:prstGeom prst="roundRect">
            <a:avLst>
              <a:gd name="adj" fmla="val 10000"/>
            </a:avLst>
          </a:prstGeom>
          <a:solidFill>
            <a:srgbClr val="E4EEEC"/>
          </a:solidFill>
          <a:ln/>
        </p:spPr>
      </p:sp>
      <p:sp>
        <p:nvSpPr>
          <p:cNvPr id="19" name="Text 17"/>
          <p:cNvSpPr/>
          <p:nvPr/>
        </p:nvSpPr>
        <p:spPr>
          <a:xfrm>
            <a:off x="621792" y="3639312"/>
            <a:ext cx="713232" cy="457200"/>
          </a:xfrm>
          <a:prstGeom prst="rect">
            <a:avLst/>
          </a:prstGeom>
          <a:noFill/>
          <a:ln/>
        </p:spPr>
        <p:txBody>
          <a:bodyPr wrap="square" lIns="0" tIns="0" rIns="0" bIns="0" rtlCol="0" anchor="ctr"/>
          <a:lstStyle/>
          <a:p>
            <a:pPr algn="ctr" indent="0" marL="0">
              <a:buNone/>
            </a:pPr>
            <a:r>
              <a:rPr lang="en-US" sz="1400" b="1" dirty="0">
                <a:solidFill>
                  <a:srgbClr val="165E58"/>
                </a:solidFill>
                <a:latin typeface="Calibri" pitchFamily="34" charset="0"/>
                <a:ea typeface="Calibri" pitchFamily="34" charset="-122"/>
                <a:cs typeface="Calibri" pitchFamily="34" charset="-120"/>
              </a:rPr>
              <a:t>4.5</a:t>
            </a:r>
            <a:endParaRPr lang="en-US" sz="1400" dirty="0"/>
          </a:p>
        </p:txBody>
      </p:sp>
      <p:sp>
        <p:nvSpPr>
          <p:cNvPr id="20" name="Text 18"/>
          <p:cNvSpPr/>
          <p:nvPr/>
        </p:nvSpPr>
        <p:spPr>
          <a:xfrm>
            <a:off x="1481328" y="3566160"/>
            <a:ext cx="6583680" cy="27432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Equity of access</a:t>
            </a:r>
            <a:endParaRPr lang="en-US" sz="1600" dirty="0"/>
          </a:p>
        </p:txBody>
      </p:sp>
      <p:sp>
        <p:nvSpPr>
          <p:cNvPr id="21" name="Text 19"/>
          <p:cNvSpPr/>
          <p:nvPr/>
        </p:nvSpPr>
        <p:spPr>
          <a:xfrm>
            <a:off x="1481328" y="3840480"/>
            <a:ext cx="6583680" cy="347472"/>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Girls at least half of learners; most new deployments in aspirational and educationally backward districts.</a:t>
            </a:r>
            <a:endParaRPr lang="en-US" sz="1300" dirty="0"/>
          </a:p>
        </p:txBody>
      </p:sp>
      <p:sp>
        <p:nvSpPr>
          <p:cNvPr id="22" name="Shape 20"/>
          <p:cNvSpPr/>
          <p:nvPr/>
        </p:nvSpPr>
        <p:spPr>
          <a:xfrm>
            <a:off x="457200" y="4343400"/>
            <a:ext cx="7818120" cy="786384"/>
          </a:xfrm>
          <a:prstGeom prst="roundRect">
            <a:avLst>
              <a:gd name="adj" fmla="val 8140"/>
            </a:avLst>
          </a:prstGeom>
          <a:solidFill>
            <a:srgbClr val="FFFFFF"/>
          </a:solidFill>
          <a:ln/>
        </p:spPr>
      </p:sp>
      <p:sp>
        <p:nvSpPr>
          <p:cNvPr id="23" name="Shape 21"/>
          <p:cNvSpPr/>
          <p:nvPr/>
        </p:nvSpPr>
        <p:spPr>
          <a:xfrm>
            <a:off x="621792" y="4507992"/>
            <a:ext cx="713232" cy="457200"/>
          </a:xfrm>
          <a:prstGeom prst="roundRect">
            <a:avLst>
              <a:gd name="adj" fmla="val 10000"/>
            </a:avLst>
          </a:prstGeom>
          <a:solidFill>
            <a:srgbClr val="E4EEEC"/>
          </a:solidFill>
          <a:ln/>
        </p:spPr>
      </p:sp>
      <p:sp>
        <p:nvSpPr>
          <p:cNvPr id="24" name="Text 22"/>
          <p:cNvSpPr/>
          <p:nvPr/>
        </p:nvSpPr>
        <p:spPr>
          <a:xfrm>
            <a:off x="621792" y="4507992"/>
            <a:ext cx="713232" cy="457200"/>
          </a:xfrm>
          <a:prstGeom prst="rect">
            <a:avLst/>
          </a:prstGeom>
          <a:noFill/>
          <a:ln/>
        </p:spPr>
        <p:txBody>
          <a:bodyPr wrap="square" lIns="0" tIns="0" rIns="0" bIns="0" rtlCol="0" anchor="ctr"/>
          <a:lstStyle/>
          <a:p>
            <a:pPr algn="ctr" indent="0" marL="0">
              <a:buNone/>
            </a:pPr>
            <a:r>
              <a:rPr lang="en-US" sz="1400" b="1" dirty="0">
                <a:solidFill>
                  <a:srgbClr val="165E58"/>
                </a:solidFill>
                <a:latin typeface="Calibri" pitchFamily="34" charset="0"/>
                <a:ea typeface="Calibri" pitchFamily="34" charset="-122"/>
                <a:cs typeface="Calibri" pitchFamily="34" charset="-120"/>
              </a:rPr>
              <a:t>4.c</a:t>
            </a:r>
            <a:endParaRPr lang="en-US" sz="1400" dirty="0"/>
          </a:p>
        </p:txBody>
      </p:sp>
      <p:sp>
        <p:nvSpPr>
          <p:cNvPr id="25" name="Text 23"/>
          <p:cNvSpPr/>
          <p:nvPr/>
        </p:nvSpPr>
        <p:spPr>
          <a:xfrm>
            <a:off x="1481328" y="4434840"/>
            <a:ext cx="6583680" cy="27432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Teachers</a:t>
            </a:r>
            <a:endParaRPr lang="en-US" sz="1600" dirty="0"/>
          </a:p>
        </p:txBody>
      </p:sp>
      <p:sp>
        <p:nvSpPr>
          <p:cNvPr id="26" name="Text 24"/>
          <p:cNvSpPr/>
          <p:nvPr/>
        </p:nvSpPr>
        <p:spPr>
          <a:xfrm>
            <a:off x="1481328" y="4709160"/>
            <a:ext cx="6583680" cy="347472"/>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Training plus two terms of follow-up. The teacher stays in charge of the classroom.</a:t>
            </a:r>
            <a:endParaRPr lang="en-US" sz="1300" dirty="0"/>
          </a:p>
        </p:txBody>
      </p:sp>
      <p:sp>
        <p:nvSpPr>
          <p:cNvPr id="27" name="Shape 25"/>
          <p:cNvSpPr/>
          <p:nvPr/>
        </p:nvSpPr>
        <p:spPr>
          <a:xfrm>
            <a:off x="8458200" y="1737360"/>
            <a:ext cx="3246120" cy="3438144"/>
          </a:xfrm>
          <a:prstGeom prst="roundRect">
            <a:avLst>
              <a:gd name="adj" fmla="val 2254"/>
            </a:avLst>
          </a:prstGeom>
          <a:solidFill>
            <a:srgbClr val="1B2A4A"/>
          </a:solidFill>
          <a:ln/>
        </p:spPr>
      </p:sp>
      <p:sp>
        <p:nvSpPr>
          <p:cNvPr id="28" name="Text 26"/>
          <p:cNvSpPr/>
          <p:nvPr/>
        </p:nvSpPr>
        <p:spPr>
          <a:xfrm>
            <a:off x="8668512" y="1938528"/>
            <a:ext cx="2834640" cy="640080"/>
          </a:xfrm>
          <a:prstGeom prst="rect">
            <a:avLst/>
          </a:prstGeom>
          <a:noFill/>
          <a:ln/>
        </p:spPr>
        <p:txBody>
          <a:bodyPr wrap="square" lIns="0" tIns="0" rIns="0" bIns="0" rtlCol="0" anchor="ctr"/>
          <a:lstStyle/>
          <a:p>
            <a:pPr indent="0" marL="0">
              <a:buNone/>
            </a:pPr>
            <a:r>
              <a:rPr lang="en-US" sz="1400" b="1" dirty="0">
                <a:solidFill>
                  <a:srgbClr val="E8A317"/>
                </a:solidFill>
                <a:latin typeface="Calibri" pitchFamily="34" charset="0"/>
                <a:ea typeface="Calibri" pitchFamily="34" charset="-122"/>
                <a:cs typeface="Calibri" pitchFamily="34" charset="-120"/>
              </a:rPr>
              <a:t>WHAT WE DO</a:t>
            </a:r>
            <a:endParaRPr lang="en-US" sz="1400" dirty="0"/>
          </a:p>
          <a:p>
            <a:pPr indent="0" marL="0">
              <a:buNone/>
            </a:pPr>
            <a:r>
              <a:rPr lang="en-US" sz="1400" b="1" dirty="0">
                <a:solidFill>
                  <a:srgbClr val="E8A317"/>
                </a:solidFill>
                <a:latin typeface="Calibri" pitchFamily="34" charset="0"/>
                <a:ea typeface="Calibri" pitchFamily="34" charset="-122"/>
                <a:cs typeface="Calibri" pitchFamily="34" charset="-120"/>
              </a:rPr>
              <a:t>NOT CLAIM</a:t>
            </a:r>
            <a:endParaRPr lang="en-US" sz="1400" dirty="0"/>
          </a:p>
        </p:txBody>
      </p:sp>
      <p:sp>
        <p:nvSpPr>
          <p:cNvPr id="29" name="Text 27"/>
          <p:cNvSpPr/>
          <p:nvPr/>
        </p:nvSpPr>
        <p:spPr>
          <a:xfrm>
            <a:off x="8668512" y="2651760"/>
            <a:ext cx="2834640" cy="10515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Ten targets sit under Goal 4. Claiming all ten is a sign the company has not read them.</a:t>
            </a:r>
            <a:endParaRPr lang="en-US" sz="1400" dirty="0"/>
          </a:p>
        </p:txBody>
      </p:sp>
      <p:sp>
        <p:nvSpPr>
          <p:cNvPr id="30" name="Text 28"/>
          <p:cNvSpPr/>
          <p:nvPr/>
        </p:nvSpPr>
        <p:spPr>
          <a:xfrm>
            <a:off x="8668512" y="3794760"/>
            <a:ext cx="2834640" cy="1188720"/>
          </a:xfrm>
          <a:prstGeom prst="rect">
            <a:avLst/>
          </a:prstGeom>
          <a:noFill/>
          <a:ln/>
        </p:spPr>
        <p:txBody>
          <a:bodyPr wrap="square" lIns="0" tIns="0" rIns="0" bIns="0" rtlCol="0" anchor="ctr"/>
          <a:lstStyle/>
          <a:p>
            <a:pPr indent="0" marL="0">
              <a:buNone/>
            </a:pPr>
            <a:r>
              <a:rPr lang="en-US" sz="1300" dirty="0">
                <a:solidFill>
                  <a:srgbClr val="D5DEE8"/>
                </a:solidFill>
                <a:latin typeface="Calibri" pitchFamily="34" charset="0"/>
                <a:ea typeface="Calibri" pitchFamily="34" charset="-122"/>
                <a:cs typeface="Calibri" pitchFamily="34" charset="-120"/>
              </a:rPr>
              <a:t>Outside our business</a:t>
            </a:r>
            <a:endParaRPr lang="en-US" sz="1300" dirty="0"/>
          </a:p>
          <a:p>
            <a:pPr indent="0" marL="0">
              <a:buNone/>
            </a:pPr>
            <a:r>
              <a:rPr lang="en-US" sz="1300" dirty="0">
                <a:solidFill>
                  <a:srgbClr val="D5DEE8"/>
                </a:solidFill>
                <a:latin typeface="Calibri" pitchFamily="34" charset="0"/>
                <a:ea typeface="Calibri" pitchFamily="34" charset="-122"/>
                <a:cs typeface="Calibri" pitchFamily="34" charset="-120"/>
              </a:rPr>
              <a:t>• 4.3  tertiary / degrees</a:t>
            </a:r>
            <a:endParaRPr lang="en-US" sz="1300" dirty="0"/>
          </a:p>
          <a:p>
            <a:pPr indent="0" marL="0">
              <a:buNone/>
            </a:pPr>
            <a:r>
              <a:rPr lang="en-US" sz="1300" dirty="0">
                <a:solidFill>
                  <a:srgbClr val="D5DEE8"/>
                </a:solidFill>
                <a:latin typeface="Calibri" pitchFamily="34" charset="0"/>
                <a:ea typeface="Calibri" pitchFamily="34" charset="-122"/>
                <a:cs typeface="Calibri" pitchFamily="34" charset="-120"/>
              </a:rPr>
              <a:t>• 4.b  scholarships</a:t>
            </a:r>
            <a:endParaRPr lang="en-US" sz="1300" dirty="0"/>
          </a:p>
          <a:p>
            <a:pPr indent="0" marL="0">
              <a:buNone/>
            </a:pPr>
            <a:r>
              <a:rPr lang="en-US" sz="1300" dirty="0">
                <a:solidFill>
                  <a:srgbClr val="D5DEE8"/>
                </a:solidFill>
                <a:latin typeface="Calibri" pitchFamily="34" charset="0"/>
                <a:ea typeface="Calibri" pitchFamily="34" charset="-122"/>
                <a:cs typeface="Calibri" pitchFamily="34" charset="-120"/>
              </a:rPr>
              <a:t>• 4.a  school buildings</a:t>
            </a:r>
            <a:endParaRPr lang="en-US" sz="1300" dirty="0"/>
          </a:p>
          <a:p>
            <a:pPr indent="0" marL="0">
              <a:buNone/>
            </a:pPr>
            <a:r>
              <a:rPr lang="en-US" sz="1300" dirty="0">
                <a:solidFill>
                  <a:srgbClr val="D5DEE8"/>
                </a:solidFill>
                <a:latin typeface="Calibri" pitchFamily="34" charset="0"/>
                <a:ea typeface="Calibri" pitchFamily="34" charset="-122"/>
                <a:cs typeface="Calibri" pitchFamily="34" charset="-120"/>
              </a:rPr>
              <a:t>• 4.2 as a primary claim</a:t>
            </a:r>
            <a:endParaRPr lang="en-US" sz="1300" dirty="0"/>
          </a:p>
        </p:txBody>
      </p:sp>
      <p:sp>
        <p:nvSpPr>
          <p:cNvPr id="31" name="Text 29"/>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32" name="Text 30"/>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04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ASSIGNMENT: CHOOSE A REAL INDUSTRY</a:t>
            </a:r>
            <a:endParaRPr lang="en-US" sz="1100" dirty="0"/>
          </a:p>
        </p:txBody>
      </p:sp>
      <p:sp>
        <p:nvSpPr>
          <p:cNvPr id="4" name="Text 2"/>
          <p:cNvSpPr/>
          <p:nvPr/>
        </p:nvSpPr>
        <p:spPr>
          <a:xfrm>
            <a:off x="457200" y="438912"/>
            <a:ext cx="11247120" cy="384048"/>
          </a:xfrm>
          <a:prstGeom prst="rect">
            <a:avLst/>
          </a:prstGeom>
          <a:noFill/>
          <a:ln/>
        </p:spPr>
        <p:txBody>
          <a:bodyPr wrap="square" lIns="0" tIns="0" rIns="0" bIns="0" rtlCol="0" anchor="ctr"/>
          <a:lstStyle/>
          <a:p>
            <a:pPr indent="0" marL="0">
              <a:buNone/>
            </a:pPr>
            <a:r>
              <a:rPr lang="en-US" sz="2600" dirty="0">
                <a:solidFill>
                  <a:srgbClr val="1B2A4A"/>
                </a:solidFill>
                <a:latin typeface="Georgia" pitchFamily="34" charset="0"/>
                <a:ea typeface="Georgia" pitchFamily="34" charset="-122"/>
                <a:cs typeface="Georgia" pitchFamily="34" charset="-120"/>
              </a:rPr>
              <a:t>School education and EdTech in India</a:t>
            </a:r>
            <a:endParaRPr lang="en-US" sz="2600" dirty="0"/>
          </a:p>
        </p:txBody>
      </p:sp>
      <p:sp>
        <p:nvSpPr>
          <p:cNvPr id="5" name="Shape 3"/>
          <p:cNvSpPr/>
          <p:nvPr/>
        </p:nvSpPr>
        <p:spPr>
          <a:xfrm>
            <a:off x="457200" y="1005840"/>
            <a:ext cx="5806440" cy="1444752"/>
          </a:xfrm>
          <a:prstGeom prst="roundRect">
            <a:avLst>
              <a:gd name="adj" fmla="val 5063"/>
            </a:avLst>
          </a:prstGeom>
          <a:solidFill>
            <a:srgbClr val="FFFFFF"/>
          </a:solidFill>
          <a:ln/>
        </p:spPr>
      </p:sp>
      <p:sp>
        <p:nvSpPr>
          <p:cNvPr id="6" name="Text 4"/>
          <p:cNvSpPr/>
          <p:nvPr/>
        </p:nvSpPr>
        <p:spPr>
          <a:xfrm>
            <a:off x="658368" y="1152144"/>
            <a:ext cx="544068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Two connected halves</a:t>
            </a:r>
            <a:endParaRPr lang="en-US" sz="1600" dirty="0"/>
          </a:p>
        </p:txBody>
      </p:sp>
      <p:sp>
        <p:nvSpPr>
          <p:cNvPr id="7" name="Text 5"/>
          <p:cNvSpPr/>
          <p:nvPr/>
        </p:nvSpPr>
        <p:spPr>
          <a:xfrm>
            <a:off x="658368" y="1481328"/>
            <a:ext cx="5440680" cy="822960"/>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Formal schools from pre-primary to Class 12, and the companies that sell digital tools into those schools.</a:t>
            </a:r>
            <a:endParaRPr lang="en-US" sz="1400" dirty="0"/>
          </a:p>
        </p:txBody>
      </p:sp>
      <p:sp>
        <p:nvSpPr>
          <p:cNvPr id="8" name="Shape 6"/>
          <p:cNvSpPr/>
          <p:nvPr/>
        </p:nvSpPr>
        <p:spPr>
          <a:xfrm>
            <a:off x="457200" y="2578608"/>
            <a:ext cx="5806440" cy="1444752"/>
          </a:xfrm>
          <a:prstGeom prst="roundRect">
            <a:avLst>
              <a:gd name="adj" fmla="val 5063"/>
            </a:avLst>
          </a:prstGeom>
          <a:solidFill>
            <a:srgbClr val="FFFFFF"/>
          </a:solidFill>
          <a:ln/>
        </p:spPr>
      </p:sp>
      <p:sp>
        <p:nvSpPr>
          <p:cNvPr id="9" name="Text 7"/>
          <p:cNvSpPr/>
          <p:nvPr/>
        </p:nvSpPr>
        <p:spPr>
          <a:xfrm>
            <a:off x="658368" y="2724912"/>
            <a:ext cx="544068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Why it belongs with SDG 4</a:t>
            </a:r>
            <a:endParaRPr lang="en-US" sz="1600" dirty="0"/>
          </a:p>
        </p:txBody>
      </p:sp>
      <p:sp>
        <p:nvSpPr>
          <p:cNvPr id="10" name="Text 8"/>
          <p:cNvSpPr/>
          <p:nvPr/>
        </p:nvSpPr>
        <p:spPr>
          <a:xfrm>
            <a:off x="658368" y="3054096"/>
            <a:ext cx="5440680" cy="822960"/>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Education is India’s largest CSR head. NEP 2020 and NIPUN Bharat turned states into buyers of learning platforms.</a:t>
            </a:r>
            <a:endParaRPr lang="en-US" sz="1400" dirty="0"/>
          </a:p>
        </p:txBody>
      </p:sp>
      <p:sp>
        <p:nvSpPr>
          <p:cNvPr id="11" name="Shape 9"/>
          <p:cNvSpPr/>
          <p:nvPr/>
        </p:nvSpPr>
        <p:spPr>
          <a:xfrm>
            <a:off x="457200" y="4151376"/>
            <a:ext cx="5806440" cy="1444752"/>
          </a:xfrm>
          <a:prstGeom prst="roundRect">
            <a:avLst>
              <a:gd name="adj" fmla="val 5063"/>
            </a:avLst>
          </a:prstGeom>
          <a:solidFill>
            <a:srgbClr val="FFFFFF"/>
          </a:solidFill>
          <a:ln/>
        </p:spPr>
      </p:sp>
      <p:sp>
        <p:nvSpPr>
          <p:cNvPr id="12" name="Text 10"/>
          <p:cNvSpPr/>
          <p:nvPr/>
        </p:nvSpPr>
        <p:spPr>
          <a:xfrm>
            <a:off x="658368" y="4297680"/>
            <a:ext cx="544068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The market, with the range intact</a:t>
            </a:r>
            <a:endParaRPr lang="en-US" sz="1600" dirty="0"/>
          </a:p>
        </p:txBody>
      </p:sp>
      <p:sp>
        <p:nvSpPr>
          <p:cNvPr id="13" name="Text 11"/>
          <p:cNvSpPr/>
          <p:nvPr/>
        </p:nvSpPr>
        <p:spPr>
          <a:xfrm>
            <a:off x="658368" y="4626864"/>
            <a:ext cx="5440680" cy="822960"/>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About US$7.5 bn in 2025. Published estimates for the same year run from US$3.6 bn to US$12.75 bn. Direction is clear; the precise level is not.</a:t>
            </a:r>
            <a:endParaRPr lang="en-US" sz="1400" dirty="0"/>
          </a:p>
        </p:txBody>
      </p:sp>
      <p:sp>
        <p:nvSpPr>
          <p:cNvPr id="14" name="Shape 12"/>
          <p:cNvSpPr/>
          <p:nvPr/>
        </p:nvSpPr>
        <p:spPr>
          <a:xfrm>
            <a:off x="6446520" y="1005840"/>
            <a:ext cx="5257800" cy="4718304"/>
          </a:xfrm>
          <a:prstGeom prst="roundRect">
            <a:avLst>
              <a:gd name="adj" fmla="val 1550"/>
            </a:avLst>
          </a:prstGeom>
          <a:solidFill>
            <a:srgbClr val="FFFFFF"/>
          </a:solidFill>
          <a:ln/>
        </p:spPr>
      </p:sp>
      <p:sp>
        <p:nvSpPr>
          <p:cNvPr id="15" name="Text 13"/>
          <p:cNvSpPr/>
          <p:nvPr/>
        </p:nvSpPr>
        <p:spPr>
          <a:xfrm>
            <a:off x="6656832" y="1170432"/>
            <a:ext cx="4846320" cy="329184"/>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Where value sits relative to SDG 4</a:t>
            </a:r>
            <a:endParaRPr lang="en-US" sz="1500" dirty="0"/>
          </a:p>
        </p:txBody>
      </p:sp>
      <p:sp>
        <p:nvSpPr>
          <p:cNvPr id="16" name="Text 14"/>
          <p:cNvSpPr/>
          <p:nvPr/>
        </p:nvSpPr>
        <p:spPr>
          <a:xfrm>
            <a:off x="6656832" y="1627632"/>
            <a:ext cx="2880360" cy="256032"/>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K-12 + test prep</a:t>
            </a:r>
            <a:endParaRPr lang="en-US" sz="1400" dirty="0"/>
          </a:p>
        </p:txBody>
      </p:sp>
      <p:sp>
        <p:nvSpPr>
          <p:cNvPr id="17" name="Text 15"/>
          <p:cNvSpPr/>
          <p:nvPr/>
        </p:nvSpPr>
        <p:spPr>
          <a:xfrm>
            <a:off x="9601200" y="1627632"/>
            <a:ext cx="960120" cy="256032"/>
          </a:xfrm>
          <a:prstGeom prst="rect">
            <a:avLst/>
          </a:prstGeom>
          <a:noFill/>
          <a:ln/>
        </p:spPr>
        <p:txBody>
          <a:bodyPr wrap="square" lIns="0" tIns="0" rIns="0" bIns="0" rtlCol="0" anchor="ctr"/>
          <a:lstStyle/>
          <a:p>
            <a:pPr algn="r" indent="0" marL="0">
              <a:buNone/>
            </a:pPr>
            <a:r>
              <a:rPr lang="en-US" sz="1300" b="1" dirty="0">
                <a:solidFill>
                  <a:srgbClr val="C98412"/>
                </a:solidFill>
                <a:latin typeface="Calibri" pitchFamily="34" charset="0"/>
                <a:ea typeface="Calibri" pitchFamily="34" charset="-122"/>
                <a:cs typeface="Calibri" pitchFamily="34" charset="-120"/>
              </a:rPr>
              <a:t>Medium</a:t>
            </a:r>
            <a:endParaRPr lang="en-US" sz="1300" dirty="0"/>
          </a:p>
        </p:txBody>
      </p:sp>
      <p:sp>
        <p:nvSpPr>
          <p:cNvPr id="18" name="Text 16"/>
          <p:cNvSpPr/>
          <p:nvPr/>
        </p:nvSpPr>
        <p:spPr>
          <a:xfrm>
            <a:off x="6656832" y="1883664"/>
            <a:ext cx="3931920" cy="292608"/>
          </a:xfrm>
          <a:prstGeom prst="rect">
            <a:avLst/>
          </a:prstGeom>
          <a:noFill/>
          <a:ln/>
        </p:spPr>
        <p:txBody>
          <a:bodyPr wrap="square" lIns="0" tIns="0" rIns="0" bIns="0" rtlCol="0" anchor="ctr"/>
          <a:lstStyle/>
          <a:p>
            <a:pPr indent="0" marL="0">
              <a:buNone/>
            </a:pPr>
            <a:r>
              <a:rPr lang="en-US" sz="1200" dirty="0">
                <a:solidFill>
                  <a:srgbClr val="5B6A7A"/>
                </a:solidFill>
                <a:latin typeface="Calibri" pitchFamily="34" charset="0"/>
                <a:ea typeface="Calibri" pitchFamily="34" charset="-122"/>
                <a:cs typeface="Calibri" pitchFamily="34" charset="-120"/>
              </a:rPr>
              <a:t>Parents pay. Mostly children who can already pay.</a:t>
            </a:r>
            <a:endParaRPr lang="en-US" sz="1200" dirty="0"/>
          </a:p>
        </p:txBody>
      </p:sp>
      <p:sp>
        <p:nvSpPr>
          <p:cNvPr id="19" name="Text 17"/>
          <p:cNvSpPr/>
          <p:nvPr/>
        </p:nvSpPr>
        <p:spPr>
          <a:xfrm>
            <a:off x="6656832" y="2377440"/>
            <a:ext cx="2880360" cy="256032"/>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Higher ed + skilling</a:t>
            </a:r>
            <a:endParaRPr lang="en-US" sz="1400" dirty="0"/>
          </a:p>
        </p:txBody>
      </p:sp>
      <p:sp>
        <p:nvSpPr>
          <p:cNvPr id="20" name="Text 18"/>
          <p:cNvSpPr/>
          <p:nvPr/>
        </p:nvSpPr>
        <p:spPr>
          <a:xfrm>
            <a:off x="9601200" y="2377440"/>
            <a:ext cx="960120" cy="256032"/>
          </a:xfrm>
          <a:prstGeom prst="rect">
            <a:avLst/>
          </a:prstGeom>
          <a:noFill/>
          <a:ln/>
        </p:spPr>
        <p:txBody>
          <a:bodyPr wrap="square" lIns="0" tIns="0" rIns="0" bIns="0" rtlCol="0" anchor="ctr"/>
          <a:lstStyle/>
          <a:p>
            <a:pPr algn="r" indent="0" marL="0">
              <a:buNone/>
            </a:pPr>
            <a:r>
              <a:rPr lang="en-US" sz="1300" b="1" dirty="0">
                <a:solidFill>
                  <a:srgbClr val="C98412"/>
                </a:solidFill>
                <a:latin typeface="Calibri" pitchFamily="34" charset="0"/>
                <a:ea typeface="Calibri" pitchFamily="34" charset="-122"/>
                <a:cs typeface="Calibri" pitchFamily="34" charset="-120"/>
              </a:rPr>
              <a:t>Medium</a:t>
            </a:r>
            <a:endParaRPr lang="en-US" sz="1300" dirty="0"/>
          </a:p>
        </p:txBody>
      </p:sp>
      <p:sp>
        <p:nvSpPr>
          <p:cNvPr id="21" name="Text 19"/>
          <p:cNvSpPr/>
          <p:nvPr/>
        </p:nvSpPr>
        <p:spPr>
          <a:xfrm>
            <a:off x="6656832" y="2633472"/>
            <a:ext cx="3931920" cy="292608"/>
          </a:xfrm>
          <a:prstGeom prst="rect">
            <a:avLst/>
          </a:prstGeom>
          <a:noFill/>
          <a:ln/>
        </p:spPr>
        <p:txBody>
          <a:bodyPr wrap="square" lIns="0" tIns="0" rIns="0" bIns="0" rtlCol="0" anchor="ctr"/>
          <a:lstStyle/>
          <a:p>
            <a:pPr indent="0" marL="0">
              <a:buNone/>
            </a:pPr>
            <a:r>
              <a:rPr lang="en-US" sz="1200" dirty="0">
                <a:solidFill>
                  <a:srgbClr val="5B6A7A"/>
                </a:solidFill>
                <a:latin typeface="Calibri" pitchFamily="34" charset="0"/>
                <a:ea typeface="Calibri" pitchFamily="34" charset="-122"/>
                <a:cs typeface="Calibri" pitchFamily="34" charset="-120"/>
              </a:rPr>
              <a:t>Adults and employers. Targets 4.3 and 4.4.</a:t>
            </a:r>
            <a:endParaRPr lang="en-US" sz="1200" dirty="0"/>
          </a:p>
        </p:txBody>
      </p:sp>
      <p:sp>
        <p:nvSpPr>
          <p:cNvPr id="22" name="Text 20"/>
          <p:cNvSpPr/>
          <p:nvPr/>
        </p:nvSpPr>
        <p:spPr>
          <a:xfrm>
            <a:off x="6656832" y="3127248"/>
            <a:ext cx="2880360" cy="256032"/>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School solutions B2B</a:t>
            </a:r>
            <a:endParaRPr lang="en-US" sz="1400" dirty="0"/>
          </a:p>
        </p:txBody>
      </p:sp>
      <p:sp>
        <p:nvSpPr>
          <p:cNvPr id="23" name="Text 21"/>
          <p:cNvSpPr/>
          <p:nvPr/>
        </p:nvSpPr>
        <p:spPr>
          <a:xfrm>
            <a:off x="9601200" y="3127248"/>
            <a:ext cx="960120" cy="256032"/>
          </a:xfrm>
          <a:prstGeom prst="rect">
            <a:avLst/>
          </a:prstGeom>
          <a:noFill/>
          <a:ln/>
        </p:spPr>
        <p:txBody>
          <a:bodyPr wrap="square" lIns="0" tIns="0" rIns="0" bIns="0" rtlCol="0" anchor="ctr"/>
          <a:lstStyle/>
          <a:p>
            <a:pPr algn="r" indent="0" marL="0">
              <a:buNone/>
            </a:pPr>
            <a:r>
              <a:rPr lang="en-US" sz="1300" b="1" dirty="0">
                <a:solidFill>
                  <a:srgbClr val="165E58"/>
                </a:solidFill>
                <a:latin typeface="Calibri" pitchFamily="34" charset="0"/>
                <a:ea typeface="Calibri" pitchFamily="34" charset="-122"/>
                <a:cs typeface="Calibri" pitchFamily="34" charset="-120"/>
              </a:rPr>
              <a:t>High</a:t>
            </a:r>
            <a:endParaRPr lang="en-US" sz="1300" dirty="0"/>
          </a:p>
        </p:txBody>
      </p:sp>
      <p:sp>
        <p:nvSpPr>
          <p:cNvPr id="24" name="Text 22"/>
          <p:cNvSpPr/>
          <p:nvPr/>
        </p:nvSpPr>
        <p:spPr>
          <a:xfrm>
            <a:off x="6656832" y="3383280"/>
            <a:ext cx="3931920" cy="292608"/>
          </a:xfrm>
          <a:prstGeom prst="rect">
            <a:avLst/>
          </a:prstGeom>
          <a:noFill/>
          <a:ln/>
        </p:spPr>
        <p:txBody>
          <a:bodyPr wrap="square" lIns="0" tIns="0" rIns="0" bIns="0" rtlCol="0" anchor="ctr"/>
          <a:lstStyle/>
          <a:p>
            <a:pPr indent="0" marL="0">
              <a:buNone/>
            </a:pPr>
            <a:r>
              <a:rPr lang="en-US" sz="1200" dirty="0">
                <a:solidFill>
                  <a:srgbClr val="5B6A7A"/>
                </a:solidFill>
                <a:latin typeface="Calibri" pitchFamily="34" charset="0"/>
                <a:ea typeface="Calibri" pitchFamily="34" charset="-122"/>
                <a:cs typeface="Calibri" pitchFamily="34" charset="-120"/>
              </a:rPr>
              <a:t>Schools and states. Vidyanta lives here.</a:t>
            </a:r>
            <a:endParaRPr lang="en-US" sz="1200" dirty="0"/>
          </a:p>
        </p:txBody>
      </p:sp>
      <p:sp>
        <p:nvSpPr>
          <p:cNvPr id="25" name="Text 23"/>
          <p:cNvSpPr/>
          <p:nvPr/>
        </p:nvSpPr>
        <p:spPr>
          <a:xfrm>
            <a:off x="6656832" y="3877056"/>
            <a:ext cx="2880360" cy="256032"/>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Teacher training</a:t>
            </a:r>
            <a:endParaRPr lang="en-US" sz="1400" dirty="0"/>
          </a:p>
        </p:txBody>
      </p:sp>
      <p:sp>
        <p:nvSpPr>
          <p:cNvPr id="26" name="Text 24"/>
          <p:cNvSpPr/>
          <p:nvPr/>
        </p:nvSpPr>
        <p:spPr>
          <a:xfrm>
            <a:off x="9601200" y="3877056"/>
            <a:ext cx="960120" cy="256032"/>
          </a:xfrm>
          <a:prstGeom prst="rect">
            <a:avLst/>
          </a:prstGeom>
          <a:noFill/>
          <a:ln/>
        </p:spPr>
        <p:txBody>
          <a:bodyPr wrap="square" lIns="0" tIns="0" rIns="0" bIns="0" rtlCol="0" anchor="ctr"/>
          <a:lstStyle/>
          <a:p>
            <a:pPr algn="r" indent="0" marL="0">
              <a:buNone/>
            </a:pPr>
            <a:r>
              <a:rPr lang="en-US" sz="1300" b="1" dirty="0">
                <a:solidFill>
                  <a:srgbClr val="165E58"/>
                </a:solidFill>
                <a:latin typeface="Calibri" pitchFamily="34" charset="0"/>
                <a:ea typeface="Calibri" pitchFamily="34" charset="-122"/>
                <a:cs typeface="Calibri" pitchFamily="34" charset="-120"/>
              </a:rPr>
              <a:t>High</a:t>
            </a:r>
            <a:endParaRPr lang="en-US" sz="1300" dirty="0"/>
          </a:p>
        </p:txBody>
      </p:sp>
      <p:sp>
        <p:nvSpPr>
          <p:cNvPr id="27" name="Text 25"/>
          <p:cNvSpPr/>
          <p:nvPr/>
        </p:nvSpPr>
        <p:spPr>
          <a:xfrm>
            <a:off x="6656832" y="4133088"/>
            <a:ext cx="3931920" cy="292608"/>
          </a:xfrm>
          <a:prstGeom prst="rect">
            <a:avLst/>
          </a:prstGeom>
          <a:noFill/>
          <a:ln/>
        </p:spPr>
        <p:txBody>
          <a:bodyPr wrap="square" lIns="0" tIns="0" rIns="0" bIns="0" rtlCol="0" anchor="ctr"/>
          <a:lstStyle/>
          <a:p>
            <a:pPr indent="0" marL="0">
              <a:buNone/>
            </a:pPr>
            <a:r>
              <a:rPr lang="en-US" sz="1200" dirty="0">
                <a:solidFill>
                  <a:srgbClr val="5B6A7A"/>
                </a:solidFill>
                <a:latin typeface="Calibri" pitchFamily="34" charset="0"/>
                <a:ea typeface="Calibri" pitchFamily="34" charset="-122"/>
                <a:cs typeface="Calibri" pitchFamily="34" charset="-120"/>
              </a:rPr>
              <a:t>Directly serves target 4.c.</a:t>
            </a:r>
            <a:endParaRPr lang="en-US" sz="1200" dirty="0"/>
          </a:p>
        </p:txBody>
      </p:sp>
      <p:sp>
        <p:nvSpPr>
          <p:cNvPr id="28" name="Text 26"/>
          <p:cNvSpPr/>
          <p:nvPr/>
        </p:nvSpPr>
        <p:spPr>
          <a:xfrm>
            <a:off x="6656832" y="4626864"/>
            <a:ext cx="2880360" cy="256032"/>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Foundational learning</a:t>
            </a:r>
            <a:endParaRPr lang="en-US" sz="1400" dirty="0"/>
          </a:p>
        </p:txBody>
      </p:sp>
      <p:sp>
        <p:nvSpPr>
          <p:cNvPr id="29" name="Text 27"/>
          <p:cNvSpPr/>
          <p:nvPr/>
        </p:nvSpPr>
        <p:spPr>
          <a:xfrm>
            <a:off x="9601200" y="4626864"/>
            <a:ext cx="960120" cy="256032"/>
          </a:xfrm>
          <a:prstGeom prst="rect">
            <a:avLst/>
          </a:prstGeom>
          <a:noFill/>
          <a:ln/>
        </p:spPr>
        <p:txBody>
          <a:bodyPr wrap="square" lIns="0" tIns="0" rIns="0" bIns="0" rtlCol="0" anchor="ctr"/>
          <a:lstStyle/>
          <a:p>
            <a:pPr algn="r" indent="0" marL="0">
              <a:buNone/>
            </a:pPr>
            <a:r>
              <a:rPr lang="en-US" sz="1300" b="1" dirty="0">
                <a:solidFill>
                  <a:srgbClr val="165E58"/>
                </a:solidFill>
                <a:latin typeface="Calibri" pitchFamily="34" charset="0"/>
                <a:ea typeface="Calibri" pitchFamily="34" charset="-122"/>
                <a:cs typeface="Calibri" pitchFamily="34" charset="-120"/>
              </a:rPr>
              <a:t>High</a:t>
            </a:r>
            <a:endParaRPr lang="en-US" sz="1300" dirty="0"/>
          </a:p>
        </p:txBody>
      </p:sp>
      <p:sp>
        <p:nvSpPr>
          <p:cNvPr id="30" name="Text 28"/>
          <p:cNvSpPr/>
          <p:nvPr/>
        </p:nvSpPr>
        <p:spPr>
          <a:xfrm>
            <a:off x="6656832" y="4882896"/>
            <a:ext cx="3931920" cy="292608"/>
          </a:xfrm>
          <a:prstGeom prst="rect">
            <a:avLst/>
          </a:prstGeom>
          <a:noFill/>
          <a:ln/>
        </p:spPr>
        <p:txBody>
          <a:bodyPr wrap="square" lIns="0" tIns="0" rIns="0" bIns="0" rtlCol="0" anchor="ctr"/>
          <a:lstStyle/>
          <a:p>
            <a:pPr indent="0" marL="0">
              <a:buNone/>
            </a:pPr>
            <a:r>
              <a:rPr lang="en-US" sz="1200" dirty="0">
                <a:solidFill>
                  <a:srgbClr val="5B6A7A"/>
                </a:solidFill>
                <a:latin typeface="Calibri" pitchFamily="34" charset="0"/>
                <a:ea typeface="Calibri" pitchFamily="34" charset="-122"/>
                <a:cs typeface="Calibri" pitchFamily="34" charset="-120"/>
              </a:rPr>
              <a:t>Directly serves 4.1 and 4.2.</a:t>
            </a:r>
            <a:endParaRPr lang="en-US" sz="1200" dirty="0"/>
          </a:p>
        </p:txBody>
      </p:sp>
      <p:sp>
        <p:nvSpPr>
          <p:cNvPr id="31" name="Text 29"/>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32" name="Text 30"/>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05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WHAT GROWTH STATISTICS HIDE</a:t>
            </a:r>
            <a:endParaRPr lang="en-US" sz="1100" dirty="0"/>
          </a:p>
        </p:txBody>
      </p:sp>
      <p:sp>
        <p:nvSpPr>
          <p:cNvPr id="4" name="Text 2"/>
          <p:cNvSpPr/>
          <p:nvPr/>
        </p:nvSpPr>
        <p:spPr>
          <a:xfrm>
            <a:off x="457200" y="438912"/>
            <a:ext cx="11247120" cy="384048"/>
          </a:xfrm>
          <a:prstGeom prst="rect">
            <a:avLst/>
          </a:prstGeom>
          <a:noFill/>
          <a:ln/>
        </p:spPr>
        <p:txBody>
          <a:bodyPr wrap="square" lIns="0" tIns="0" rIns="0" bIns="0" rtlCol="0" anchor="ctr"/>
          <a:lstStyle/>
          <a:p>
            <a:pPr indent="0" marL="0">
              <a:buNone/>
            </a:pPr>
            <a:r>
              <a:rPr lang="en-US" sz="2600" dirty="0">
                <a:solidFill>
                  <a:srgbClr val="1B2A4A"/>
                </a:solidFill>
                <a:latin typeface="Georgia" pitchFamily="34" charset="0"/>
                <a:ea typeface="Georgia" pitchFamily="34" charset="-122"/>
                <a:cs typeface="Georgia" pitchFamily="34" charset="-120"/>
              </a:rPr>
              <a:t>Four problems the industry has not solved</a:t>
            </a:r>
            <a:endParaRPr lang="en-US" sz="2600" dirty="0"/>
          </a:p>
        </p:txBody>
      </p:sp>
      <p:sp>
        <p:nvSpPr>
          <p:cNvPr id="5" name="Shape 3"/>
          <p:cNvSpPr/>
          <p:nvPr/>
        </p:nvSpPr>
        <p:spPr>
          <a:xfrm>
            <a:off x="457200" y="1024128"/>
            <a:ext cx="5623560" cy="1828800"/>
          </a:xfrm>
          <a:prstGeom prst="roundRect">
            <a:avLst>
              <a:gd name="adj" fmla="val 4000"/>
            </a:avLst>
          </a:prstGeom>
          <a:solidFill>
            <a:srgbClr val="FFFFFF"/>
          </a:solidFill>
          <a:ln/>
        </p:spPr>
      </p:sp>
      <p:sp>
        <p:nvSpPr>
          <p:cNvPr id="6" name="Text 4"/>
          <p:cNvSpPr/>
          <p:nvPr/>
        </p:nvSpPr>
        <p:spPr>
          <a:xfrm>
            <a:off x="713232" y="1225296"/>
            <a:ext cx="640080" cy="292608"/>
          </a:xfrm>
          <a:prstGeom prst="rect">
            <a:avLst/>
          </a:prstGeom>
          <a:noFill/>
          <a:ln/>
        </p:spPr>
        <p:txBody>
          <a:bodyPr wrap="square" lIns="0" tIns="0" rIns="0" bIns="0" rtlCol="0" anchor="ctr"/>
          <a:lstStyle/>
          <a:p>
            <a:pPr indent="0" marL="0">
              <a:buNone/>
            </a:pPr>
            <a:r>
              <a:rPr lang="en-US" sz="1400" b="1" dirty="0">
                <a:solidFill>
                  <a:srgbClr val="1F7A72"/>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371600" y="1207008"/>
            <a:ext cx="4434840" cy="329184"/>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Retention</a:t>
            </a:r>
            <a:endParaRPr lang="en-US" sz="1800" dirty="0"/>
          </a:p>
        </p:txBody>
      </p:sp>
      <p:sp>
        <p:nvSpPr>
          <p:cNvPr id="8" name="Text 6"/>
          <p:cNvSpPr/>
          <p:nvPr/>
        </p:nvSpPr>
        <p:spPr>
          <a:xfrm>
            <a:off x="713232" y="1645920"/>
            <a:ext cx="5120640" cy="1024128"/>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GER falls from ~93% at primary to 77.4% at secondary and 56.2% at higher secondary. One in nine still drops out at secondary.</a:t>
            </a:r>
            <a:endParaRPr lang="en-US" sz="1400" dirty="0"/>
          </a:p>
        </p:txBody>
      </p:sp>
      <p:sp>
        <p:nvSpPr>
          <p:cNvPr id="9" name="Shape 7"/>
          <p:cNvSpPr/>
          <p:nvPr/>
        </p:nvSpPr>
        <p:spPr>
          <a:xfrm>
            <a:off x="6309360" y="1024128"/>
            <a:ext cx="5623560" cy="1828800"/>
          </a:xfrm>
          <a:prstGeom prst="roundRect">
            <a:avLst>
              <a:gd name="adj" fmla="val 4000"/>
            </a:avLst>
          </a:prstGeom>
          <a:solidFill>
            <a:srgbClr val="FFFFFF"/>
          </a:solidFill>
          <a:ln/>
        </p:spPr>
      </p:sp>
      <p:sp>
        <p:nvSpPr>
          <p:cNvPr id="10" name="Text 8"/>
          <p:cNvSpPr/>
          <p:nvPr/>
        </p:nvSpPr>
        <p:spPr>
          <a:xfrm>
            <a:off x="6565392" y="1225296"/>
            <a:ext cx="640080" cy="292608"/>
          </a:xfrm>
          <a:prstGeom prst="rect">
            <a:avLst/>
          </a:prstGeom>
          <a:noFill/>
          <a:ln/>
        </p:spPr>
        <p:txBody>
          <a:bodyPr wrap="square" lIns="0" tIns="0" rIns="0" bIns="0" rtlCol="0" anchor="ctr"/>
          <a:lstStyle/>
          <a:p>
            <a:pPr indent="0" marL="0">
              <a:buNone/>
            </a:pPr>
            <a:r>
              <a:rPr lang="en-US" sz="1400" b="1" dirty="0">
                <a:solidFill>
                  <a:srgbClr val="1F7A72"/>
                </a:solidFill>
                <a:latin typeface="Calibri" pitchFamily="34" charset="0"/>
                <a:ea typeface="Calibri" pitchFamily="34" charset="-122"/>
                <a:cs typeface="Calibri" pitchFamily="34" charset="-120"/>
              </a:rPr>
              <a:t>02</a:t>
            </a:r>
            <a:endParaRPr lang="en-US" sz="1400" dirty="0"/>
          </a:p>
        </p:txBody>
      </p:sp>
      <p:sp>
        <p:nvSpPr>
          <p:cNvPr id="11" name="Text 9"/>
          <p:cNvSpPr/>
          <p:nvPr/>
        </p:nvSpPr>
        <p:spPr>
          <a:xfrm>
            <a:off x="7223760" y="1207008"/>
            <a:ext cx="4434840" cy="329184"/>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Learning</a:t>
            </a:r>
            <a:endParaRPr lang="en-US" sz="1800" dirty="0"/>
          </a:p>
        </p:txBody>
      </p:sp>
      <p:sp>
        <p:nvSpPr>
          <p:cNvPr id="12" name="Text 10"/>
          <p:cNvSpPr/>
          <p:nvPr/>
        </p:nvSpPr>
        <p:spPr>
          <a:xfrm>
            <a:off x="6565392" y="1645920"/>
            <a:ext cx="5120640" cy="1024128"/>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Class 3 reading recovered to 23.4% in 2024 — still more than three-quarters below the class below them. Class 5 is 48.8%.</a:t>
            </a:r>
            <a:endParaRPr lang="en-US" sz="1400" dirty="0"/>
          </a:p>
        </p:txBody>
      </p:sp>
      <p:sp>
        <p:nvSpPr>
          <p:cNvPr id="13" name="Shape 11"/>
          <p:cNvSpPr/>
          <p:nvPr/>
        </p:nvSpPr>
        <p:spPr>
          <a:xfrm>
            <a:off x="457200" y="2990088"/>
            <a:ext cx="5623560" cy="1828800"/>
          </a:xfrm>
          <a:prstGeom prst="roundRect">
            <a:avLst>
              <a:gd name="adj" fmla="val 4000"/>
            </a:avLst>
          </a:prstGeom>
          <a:solidFill>
            <a:srgbClr val="FFFFFF"/>
          </a:solidFill>
          <a:ln/>
        </p:spPr>
      </p:sp>
      <p:sp>
        <p:nvSpPr>
          <p:cNvPr id="14" name="Text 12"/>
          <p:cNvSpPr/>
          <p:nvPr/>
        </p:nvSpPr>
        <p:spPr>
          <a:xfrm>
            <a:off x="713232" y="3191256"/>
            <a:ext cx="640080" cy="292608"/>
          </a:xfrm>
          <a:prstGeom prst="rect">
            <a:avLst/>
          </a:prstGeom>
          <a:noFill/>
          <a:ln/>
        </p:spPr>
        <p:txBody>
          <a:bodyPr wrap="square" lIns="0" tIns="0" rIns="0" bIns="0" rtlCol="0" anchor="ctr"/>
          <a:lstStyle/>
          <a:p>
            <a:pPr indent="0" marL="0">
              <a:buNone/>
            </a:pPr>
            <a:r>
              <a:rPr lang="en-US" sz="1400" b="1" dirty="0">
                <a:solidFill>
                  <a:srgbClr val="1F7A72"/>
                </a:solidFill>
                <a:latin typeface="Calibri" pitchFamily="34" charset="0"/>
                <a:ea typeface="Calibri" pitchFamily="34" charset="-122"/>
                <a:cs typeface="Calibri" pitchFamily="34" charset="-120"/>
              </a:rPr>
              <a:t>03</a:t>
            </a:r>
            <a:endParaRPr lang="en-US" sz="1400" dirty="0"/>
          </a:p>
        </p:txBody>
      </p:sp>
      <p:sp>
        <p:nvSpPr>
          <p:cNvPr id="15" name="Text 13"/>
          <p:cNvSpPr/>
          <p:nvPr/>
        </p:nvSpPr>
        <p:spPr>
          <a:xfrm>
            <a:off x="1371600" y="3172968"/>
            <a:ext cx="4434840" cy="329184"/>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School digital capacity</a:t>
            </a:r>
            <a:endParaRPr lang="en-US" sz="1800" dirty="0"/>
          </a:p>
        </p:txBody>
      </p:sp>
      <p:sp>
        <p:nvSpPr>
          <p:cNvPr id="16" name="Text 14"/>
          <p:cNvSpPr/>
          <p:nvPr/>
        </p:nvSpPr>
        <p:spPr>
          <a:xfrm>
            <a:off x="713232" y="3611880"/>
            <a:ext cx="5120640" cy="1024128"/>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Only 57.2% of schools have functional computers; 53.9% have internet. A product that needs broadband excludes half the country.</a:t>
            </a:r>
            <a:endParaRPr lang="en-US" sz="1400" dirty="0"/>
          </a:p>
        </p:txBody>
      </p:sp>
      <p:sp>
        <p:nvSpPr>
          <p:cNvPr id="17" name="Shape 15"/>
          <p:cNvSpPr/>
          <p:nvPr/>
        </p:nvSpPr>
        <p:spPr>
          <a:xfrm>
            <a:off x="6309360" y="2990088"/>
            <a:ext cx="5623560" cy="1828800"/>
          </a:xfrm>
          <a:prstGeom prst="roundRect">
            <a:avLst>
              <a:gd name="adj" fmla="val 4000"/>
            </a:avLst>
          </a:prstGeom>
          <a:solidFill>
            <a:srgbClr val="FFFFFF"/>
          </a:solidFill>
          <a:ln/>
        </p:spPr>
      </p:sp>
      <p:sp>
        <p:nvSpPr>
          <p:cNvPr id="18" name="Text 16"/>
          <p:cNvSpPr/>
          <p:nvPr/>
        </p:nvSpPr>
        <p:spPr>
          <a:xfrm>
            <a:off x="6565392" y="3191256"/>
            <a:ext cx="640080" cy="292608"/>
          </a:xfrm>
          <a:prstGeom prst="rect">
            <a:avLst/>
          </a:prstGeom>
          <a:noFill/>
          <a:ln/>
        </p:spPr>
        <p:txBody>
          <a:bodyPr wrap="square" lIns="0" tIns="0" rIns="0" bIns="0" rtlCol="0" anchor="ctr"/>
          <a:lstStyle/>
          <a:p>
            <a:pPr indent="0" marL="0">
              <a:buNone/>
            </a:pPr>
            <a:r>
              <a:rPr lang="en-US" sz="1400" b="1" dirty="0">
                <a:solidFill>
                  <a:srgbClr val="1F7A72"/>
                </a:solidFill>
                <a:latin typeface="Calibri" pitchFamily="34" charset="0"/>
                <a:ea typeface="Calibri" pitchFamily="34" charset="-122"/>
                <a:cs typeface="Calibri" pitchFamily="34" charset="-120"/>
              </a:rPr>
              <a:t>04</a:t>
            </a:r>
            <a:endParaRPr lang="en-US" sz="1400" dirty="0"/>
          </a:p>
        </p:txBody>
      </p:sp>
      <p:sp>
        <p:nvSpPr>
          <p:cNvPr id="19" name="Text 17"/>
          <p:cNvSpPr/>
          <p:nvPr/>
        </p:nvSpPr>
        <p:spPr>
          <a:xfrm>
            <a:off x="7223760" y="3172968"/>
            <a:ext cx="4434840" cy="329184"/>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Trust</a:t>
            </a:r>
            <a:endParaRPr lang="en-US" sz="1800" dirty="0"/>
          </a:p>
        </p:txBody>
      </p:sp>
      <p:sp>
        <p:nvSpPr>
          <p:cNvPr id="20" name="Text 18"/>
          <p:cNvSpPr/>
          <p:nvPr/>
        </p:nvSpPr>
        <p:spPr>
          <a:xfrm>
            <a:off x="6565392" y="3611880"/>
            <a:ext cx="5120640" cy="1024128"/>
          </a:xfrm>
          <a:prstGeom prst="rect">
            <a:avLst/>
          </a:prstGeom>
          <a:noFill/>
          <a:ln/>
        </p:spPr>
        <p:txBody>
          <a:bodyPr wrap="square" lIns="0" tIns="0" rIns="0" bIns="0" rtlCol="0" anchor="ctr"/>
          <a:lstStyle/>
          <a:p>
            <a:pPr indent="0" marL="0">
              <a:buNone/>
            </a:pPr>
            <a:r>
              <a:rPr lang="en-US" sz="1400" dirty="0">
                <a:solidFill>
                  <a:srgbClr val="5B6A7A"/>
                </a:solidFill>
                <a:latin typeface="Calibri" pitchFamily="34" charset="0"/>
                <a:ea typeface="Calibri" pitchFamily="34" charset="-122"/>
                <a:cs typeface="Calibri" pitchFamily="34" charset="-120"/>
              </a:rPr>
              <a:t>Funding collapsed after 2021. ASCI issued EdTech advertising rules. A new firm inherits that scepticism whether it earned it or not.</a:t>
            </a:r>
            <a:endParaRPr lang="en-US" sz="1400" dirty="0"/>
          </a:p>
        </p:txBody>
      </p:sp>
      <p:sp>
        <p:nvSpPr>
          <p:cNvPr id="21" name="Shape 19"/>
          <p:cNvSpPr/>
          <p:nvPr/>
        </p:nvSpPr>
        <p:spPr>
          <a:xfrm>
            <a:off x="457200" y="5047488"/>
            <a:ext cx="11247120" cy="1261872"/>
          </a:xfrm>
          <a:prstGeom prst="roundRect">
            <a:avLst>
              <a:gd name="adj" fmla="val 5797"/>
            </a:avLst>
          </a:prstGeom>
          <a:solidFill>
            <a:srgbClr val="1B2A4A"/>
          </a:solidFill>
          <a:ln/>
        </p:spPr>
      </p:sp>
      <p:sp>
        <p:nvSpPr>
          <p:cNvPr id="22" name="Text 20"/>
          <p:cNvSpPr/>
          <p:nvPr/>
        </p:nvSpPr>
        <p:spPr>
          <a:xfrm>
            <a:off x="685800" y="5193792"/>
            <a:ext cx="10789920" cy="256032"/>
          </a:xfrm>
          <a:prstGeom prst="rect">
            <a:avLst/>
          </a:prstGeom>
          <a:noFill/>
          <a:ln/>
        </p:spPr>
        <p:txBody>
          <a:bodyPr wrap="square" lIns="0" tIns="0" rIns="0" bIns="0" rtlCol="0" anchor="ctr"/>
          <a:lstStyle/>
          <a:p>
            <a:pPr indent="0" marL="0">
              <a:buNone/>
            </a:pPr>
            <a:r>
              <a:rPr lang="en-US" sz="1300" b="1" dirty="0">
                <a:solidFill>
                  <a:srgbClr val="E8A317"/>
                </a:solidFill>
                <a:latin typeface="Calibri" pitchFamily="34" charset="0"/>
                <a:ea typeface="Calibri" pitchFamily="34" charset="-122"/>
                <a:cs typeface="Calibri" pitchFamily="34" charset="-120"/>
              </a:rPr>
              <a:t>The strategic shift this creates</a:t>
            </a:r>
            <a:endParaRPr lang="en-US" sz="1300" dirty="0"/>
          </a:p>
        </p:txBody>
      </p:sp>
      <p:sp>
        <p:nvSpPr>
          <p:cNvPr id="23" name="Text 21"/>
          <p:cNvSpPr/>
          <p:nvPr/>
        </p:nvSpPr>
        <p:spPr>
          <a:xfrm>
            <a:off x="685800" y="5504688"/>
            <a:ext cx="10789920" cy="621792"/>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Consumer-marketing EdTech: the loudest claim wins. Institutional-trust EdTech: the claim that survives an audit wins. SDG 4 communication is core work in the second business, not decoration.</a:t>
            </a:r>
            <a:endParaRPr lang="en-US" sz="1600" dirty="0"/>
          </a:p>
        </p:txBody>
      </p:sp>
      <p:sp>
        <p:nvSpPr>
          <p:cNvPr id="24" name="Text 22"/>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25" name="Text 23"/>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06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ASSIGNMENT: A HYPOTHETICAL COMPANY</a:t>
            </a:r>
            <a:endParaRPr lang="en-US" sz="1100" dirty="0"/>
          </a:p>
        </p:txBody>
      </p:sp>
      <p:sp>
        <p:nvSpPr>
          <p:cNvPr id="4" name="Text 2"/>
          <p:cNvSpPr/>
          <p:nvPr/>
        </p:nvSpPr>
        <p:spPr>
          <a:xfrm>
            <a:off x="457200" y="438912"/>
            <a:ext cx="11247120" cy="384048"/>
          </a:xfrm>
          <a:prstGeom prst="rect">
            <a:avLst/>
          </a:prstGeom>
          <a:noFill/>
          <a:ln/>
        </p:spPr>
        <p:txBody>
          <a:bodyPr wrap="square" lIns="0" tIns="0" rIns="0" bIns="0" rtlCol="0" anchor="ctr"/>
          <a:lstStyle/>
          <a:p>
            <a:pPr indent="0" marL="0">
              <a:buNone/>
            </a:pPr>
            <a:r>
              <a:rPr lang="en-US" sz="2600" dirty="0">
                <a:solidFill>
                  <a:srgbClr val="1B2A4A"/>
                </a:solidFill>
                <a:latin typeface="Georgia" pitchFamily="34" charset="0"/>
                <a:ea typeface="Georgia" pitchFamily="34" charset="-122"/>
                <a:cs typeface="Georgia" pitchFamily="34" charset="-120"/>
              </a:rPr>
              <a:t>Vidyanta Learning Private Limited</a:t>
            </a:r>
            <a:endParaRPr lang="en-US" sz="2600" dirty="0"/>
          </a:p>
        </p:txBody>
      </p:sp>
      <p:sp>
        <p:nvSpPr>
          <p:cNvPr id="5" name="Shape 3"/>
          <p:cNvSpPr/>
          <p:nvPr/>
        </p:nvSpPr>
        <p:spPr>
          <a:xfrm>
            <a:off x="457200" y="987552"/>
            <a:ext cx="5394960" cy="2331720"/>
          </a:xfrm>
          <a:prstGeom prst="roundRect">
            <a:avLst>
              <a:gd name="adj" fmla="val 3137"/>
            </a:avLst>
          </a:prstGeom>
          <a:solidFill>
            <a:srgbClr val="FFFFFF"/>
          </a:solidFill>
          <a:ln/>
        </p:spPr>
      </p:sp>
      <p:pic>
        <p:nvPicPr>
          <p:cNvPr id="6" name="Image 0" descr="/home/workdir/artifacts/images/vidyanta_logo.png">    </p:cNvPr>
          <p:cNvPicPr>
            <a:picLocks noChangeAspect="1"/>
          </p:cNvPicPr>
          <p:nvPr/>
        </p:nvPicPr>
        <p:blipFill>
          <a:blip r:embed="rId1"/>
          <a:stretch>
            <a:fillRect/>
          </a:stretch>
        </p:blipFill>
        <p:spPr>
          <a:xfrm>
            <a:off x="685800" y="1170432"/>
            <a:ext cx="4937760" cy="1847088"/>
          </a:xfrm>
          <a:prstGeom prst="rect">
            <a:avLst/>
          </a:prstGeom>
        </p:spPr>
      </p:pic>
      <p:sp>
        <p:nvSpPr>
          <p:cNvPr id="7" name="Shape 4"/>
          <p:cNvSpPr/>
          <p:nvPr/>
        </p:nvSpPr>
        <p:spPr>
          <a:xfrm>
            <a:off x="6035040" y="987552"/>
            <a:ext cx="5669280" cy="2331720"/>
          </a:xfrm>
          <a:prstGeom prst="roundRect">
            <a:avLst>
              <a:gd name="adj" fmla="val 3137"/>
            </a:avLst>
          </a:prstGeom>
          <a:solidFill>
            <a:srgbClr val="1B2A4A"/>
          </a:solidFill>
          <a:ln/>
        </p:spPr>
      </p:sp>
      <p:sp>
        <p:nvSpPr>
          <p:cNvPr id="8" name="Text 5"/>
          <p:cNvSpPr/>
          <p:nvPr/>
        </p:nvSpPr>
        <p:spPr>
          <a:xfrm>
            <a:off x="6263640" y="1133856"/>
            <a:ext cx="5257800" cy="237744"/>
          </a:xfrm>
          <a:prstGeom prst="rect">
            <a:avLst/>
          </a:prstGeom>
          <a:noFill/>
          <a:ln/>
        </p:spPr>
        <p:txBody>
          <a:bodyPr wrap="square" lIns="0" tIns="0" rIns="0" bIns="0" rtlCol="0" anchor="ctr"/>
          <a:lstStyle/>
          <a:p>
            <a:pPr indent="0" marL="0">
              <a:buNone/>
            </a:pPr>
            <a:r>
              <a:rPr lang="en-US" sz="1200" b="1" spc="110" kern="0" dirty="0">
                <a:solidFill>
                  <a:srgbClr val="E8A317"/>
                </a:solidFill>
                <a:latin typeface="Calibri" pitchFamily="34" charset="0"/>
                <a:ea typeface="Calibri" pitchFamily="34" charset="-122"/>
                <a:cs typeface="Calibri" pitchFamily="34" charset="-120"/>
              </a:rPr>
              <a:t>WHAT THE MARK SAYS</a:t>
            </a:r>
            <a:endParaRPr lang="en-US" sz="1200" dirty="0"/>
          </a:p>
        </p:txBody>
      </p:sp>
      <p:sp>
        <p:nvSpPr>
          <p:cNvPr id="9" name="Text 6"/>
          <p:cNvSpPr/>
          <p:nvPr/>
        </p:nvSpPr>
        <p:spPr>
          <a:xfrm>
            <a:off x="6263640" y="1444752"/>
            <a:ext cx="5257800" cy="1691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Open book — learning stays the base, technology serves it.</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Four rising bars — measured progress, not user growth.</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Amber dot — the last child still out of reach.</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Indigo, amber, teal — trust, the foundational years, growth.</a:t>
            </a:r>
            <a:endParaRPr lang="en-US" sz="1400" dirty="0"/>
          </a:p>
        </p:txBody>
      </p:sp>
      <p:sp>
        <p:nvSpPr>
          <p:cNvPr id="10" name="Shape 7"/>
          <p:cNvSpPr/>
          <p:nvPr/>
        </p:nvSpPr>
        <p:spPr>
          <a:xfrm>
            <a:off x="457200" y="3493008"/>
            <a:ext cx="3703320" cy="1115568"/>
          </a:xfrm>
          <a:prstGeom prst="roundRect">
            <a:avLst>
              <a:gd name="adj" fmla="val 6557"/>
            </a:avLst>
          </a:prstGeom>
          <a:solidFill>
            <a:srgbClr val="FFFFFF"/>
          </a:solidFill>
          <a:ln/>
        </p:spPr>
      </p:sp>
      <p:sp>
        <p:nvSpPr>
          <p:cNvPr id="11" name="Text 8"/>
          <p:cNvSpPr/>
          <p:nvPr/>
        </p:nvSpPr>
        <p:spPr>
          <a:xfrm>
            <a:off x="640080" y="3639312"/>
            <a:ext cx="3337560" cy="219456"/>
          </a:xfrm>
          <a:prstGeom prst="rect">
            <a:avLst/>
          </a:prstGeom>
          <a:noFill/>
          <a:ln/>
        </p:spPr>
        <p:txBody>
          <a:bodyPr wrap="square" lIns="0" tIns="0" rIns="0" bIns="0" rtlCol="0" anchor="ctr"/>
          <a:lstStyle/>
          <a:p>
            <a:pPr indent="0" marL="0">
              <a:buNone/>
            </a:pPr>
            <a:r>
              <a:rPr lang="en-US" sz="1100" b="1" spc="80" kern="0" dirty="0">
                <a:solidFill>
                  <a:srgbClr val="1F7A72"/>
                </a:solidFill>
                <a:latin typeface="Calibri" pitchFamily="34" charset="0"/>
                <a:ea typeface="Calibri" pitchFamily="34" charset="-122"/>
                <a:cs typeface="Calibri" pitchFamily="34" charset="-120"/>
              </a:rPr>
              <a:t>NAME</a:t>
            </a:r>
            <a:endParaRPr lang="en-US" sz="1100" dirty="0"/>
          </a:p>
        </p:txBody>
      </p:sp>
      <p:sp>
        <p:nvSpPr>
          <p:cNvPr id="12" name="Text 9"/>
          <p:cNvSpPr/>
          <p:nvPr/>
        </p:nvSpPr>
        <p:spPr>
          <a:xfrm>
            <a:off x="640080" y="3913632"/>
            <a:ext cx="3337560" cy="530352"/>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vidya + ananta — knowledge without end</a:t>
            </a:r>
            <a:endParaRPr lang="en-US" sz="1400" dirty="0"/>
          </a:p>
        </p:txBody>
      </p:sp>
      <p:sp>
        <p:nvSpPr>
          <p:cNvPr id="13" name="Shape 10"/>
          <p:cNvSpPr/>
          <p:nvPr/>
        </p:nvSpPr>
        <p:spPr>
          <a:xfrm>
            <a:off x="4297680" y="3493008"/>
            <a:ext cx="3703320" cy="1115568"/>
          </a:xfrm>
          <a:prstGeom prst="roundRect">
            <a:avLst>
              <a:gd name="adj" fmla="val 6557"/>
            </a:avLst>
          </a:prstGeom>
          <a:solidFill>
            <a:srgbClr val="FFFFFF"/>
          </a:solidFill>
          <a:ln/>
        </p:spPr>
      </p:sp>
      <p:sp>
        <p:nvSpPr>
          <p:cNvPr id="14" name="Text 11"/>
          <p:cNvSpPr/>
          <p:nvPr/>
        </p:nvSpPr>
        <p:spPr>
          <a:xfrm>
            <a:off x="4480560" y="3639312"/>
            <a:ext cx="3337560" cy="219456"/>
          </a:xfrm>
          <a:prstGeom prst="rect">
            <a:avLst/>
          </a:prstGeom>
          <a:noFill/>
          <a:ln/>
        </p:spPr>
        <p:txBody>
          <a:bodyPr wrap="square" lIns="0" tIns="0" rIns="0" bIns="0" rtlCol="0" anchor="ctr"/>
          <a:lstStyle/>
          <a:p>
            <a:pPr indent="0" marL="0">
              <a:buNone/>
            </a:pPr>
            <a:r>
              <a:rPr lang="en-US" sz="1100" b="1" spc="80" kern="0" dirty="0">
                <a:solidFill>
                  <a:srgbClr val="1F7A72"/>
                </a:solidFill>
                <a:latin typeface="Calibri" pitchFamily="34" charset="0"/>
                <a:ea typeface="Calibri" pitchFamily="34" charset="-122"/>
                <a:cs typeface="Calibri" pitchFamily="34" charset="-120"/>
              </a:rPr>
              <a:t>FOUNDED</a:t>
            </a:r>
            <a:endParaRPr lang="en-US" sz="1100" dirty="0"/>
          </a:p>
        </p:txBody>
      </p:sp>
      <p:sp>
        <p:nvSpPr>
          <p:cNvPr id="15" name="Text 12"/>
          <p:cNvSpPr/>
          <p:nvPr/>
        </p:nvSpPr>
        <p:spPr>
          <a:xfrm>
            <a:off x="4480560" y="3913632"/>
            <a:ext cx="3337560" cy="530352"/>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2021  ·  Sector 44, Gurugram</a:t>
            </a:r>
            <a:endParaRPr lang="en-US" sz="1400" dirty="0"/>
          </a:p>
        </p:txBody>
      </p:sp>
      <p:sp>
        <p:nvSpPr>
          <p:cNvPr id="16" name="Shape 13"/>
          <p:cNvSpPr/>
          <p:nvPr/>
        </p:nvSpPr>
        <p:spPr>
          <a:xfrm>
            <a:off x="8138160" y="3493008"/>
            <a:ext cx="3703320" cy="1115568"/>
          </a:xfrm>
          <a:prstGeom prst="roundRect">
            <a:avLst>
              <a:gd name="adj" fmla="val 6557"/>
            </a:avLst>
          </a:prstGeom>
          <a:solidFill>
            <a:srgbClr val="FFFFFF"/>
          </a:solidFill>
          <a:ln/>
        </p:spPr>
      </p:sp>
      <p:sp>
        <p:nvSpPr>
          <p:cNvPr id="17" name="Text 14"/>
          <p:cNvSpPr/>
          <p:nvPr/>
        </p:nvSpPr>
        <p:spPr>
          <a:xfrm>
            <a:off x="8321040" y="3639312"/>
            <a:ext cx="3337560" cy="219456"/>
          </a:xfrm>
          <a:prstGeom prst="rect">
            <a:avLst/>
          </a:prstGeom>
          <a:noFill/>
          <a:ln/>
        </p:spPr>
        <p:txBody>
          <a:bodyPr wrap="square" lIns="0" tIns="0" rIns="0" bIns="0" rtlCol="0" anchor="ctr"/>
          <a:lstStyle/>
          <a:p>
            <a:pPr indent="0" marL="0">
              <a:buNone/>
            </a:pPr>
            <a:r>
              <a:rPr lang="en-US" sz="1100" b="1" spc="80" kern="0" dirty="0">
                <a:solidFill>
                  <a:srgbClr val="1F7A72"/>
                </a:solidFill>
                <a:latin typeface="Calibri" pitchFamily="34" charset="0"/>
                <a:ea typeface="Calibri" pitchFamily="34" charset="-122"/>
                <a:cs typeface="Calibri" pitchFamily="34" charset="-120"/>
              </a:rPr>
              <a:t>BUSINESS</a:t>
            </a:r>
            <a:endParaRPr lang="en-US" sz="1100" dirty="0"/>
          </a:p>
        </p:txBody>
      </p:sp>
      <p:sp>
        <p:nvSpPr>
          <p:cNvPr id="18" name="Text 15"/>
          <p:cNvSpPr/>
          <p:nvPr/>
        </p:nvSpPr>
        <p:spPr>
          <a:xfrm>
            <a:off x="8321040" y="3913632"/>
            <a:ext cx="3337560" cy="530352"/>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Offline-first software, assessment, teacher training</a:t>
            </a:r>
            <a:endParaRPr lang="en-US" sz="1400" dirty="0"/>
          </a:p>
        </p:txBody>
      </p:sp>
      <p:sp>
        <p:nvSpPr>
          <p:cNvPr id="19" name="Shape 16"/>
          <p:cNvSpPr/>
          <p:nvPr/>
        </p:nvSpPr>
        <p:spPr>
          <a:xfrm>
            <a:off x="457200" y="4727448"/>
            <a:ext cx="3703320" cy="1115568"/>
          </a:xfrm>
          <a:prstGeom prst="roundRect">
            <a:avLst>
              <a:gd name="adj" fmla="val 6557"/>
            </a:avLst>
          </a:prstGeom>
          <a:solidFill>
            <a:srgbClr val="FFFFFF"/>
          </a:solidFill>
          <a:ln/>
        </p:spPr>
      </p:sp>
      <p:sp>
        <p:nvSpPr>
          <p:cNvPr id="20" name="Text 17"/>
          <p:cNvSpPr/>
          <p:nvPr/>
        </p:nvSpPr>
        <p:spPr>
          <a:xfrm>
            <a:off x="640080" y="4873752"/>
            <a:ext cx="3337560" cy="219456"/>
          </a:xfrm>
          <a:prstGeom prst="rect">
            <a:avLst/>
          </a:prstGeom>
          <a:noFill/>
          <a:ln/>
        </p:spPr>
        <p:txBody>
          <a:bodyPr wrap="square" lIns="0" tIns="0" rIns="0" bIns="0" rtlCol="0" anchor="ctr"/>
          <a:lstStyle/>
          <a:p>
            <a:pPr indent="0" marL="0">
              <a:buNone/>
            </a:pPr>
            <a:r>
              <a:rPr lang="en-US" sz="1100" b="1" spc="80" kern="0" dirty="0">
                <a:solidFill>
                  <a:srgbClr val="1F7A72"/>
                </a:solidFill>
                <a:latin typeface="Calibri" pitchFamily="34" charset="0"/>
                <a:ea typeface="Calibri" pitchFamily="34" charset="-122"/>
                <a:cs typeface="Calibri" pitchFamily="34" charset="-120"/>
              </a:rPr>
              <a:t>CUSTOMER</a:t>
            </a:r>
            <a:endParaRPr lang="en-US" sz="1100" dirty="0"/>
          </a:p>
        </p:txBody>
      </p:sp>
      <p:sp>
        <p:nvSpPr>
          <p:cNvPr id="21" name="Text 18"/>
          <p:cNvSpPr/>
          <p:nvPr/>
        </p:nvSpPr>
        <p:spPr>
          <a:xfrm>
            <a:off x="640080" y="5148072"/>
            <a:ext cx="3337560" cy="530352"/>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States, districts, low-fee private schools</a:t>
            </a:r>
            <a:endParaRPr lang="en-US" sz="1400" dirty="0"/>
          </a:p>
        </p:txBody>
      </p:sp>
      <p:sp>
        <p:nvSpPr>
          <p:cNvPr id="22" name="Shape 19"/>
          <p:cNvSpPr/>
          <p:nvPr/>
        </p:nvSpPr>
        <p:spPr>
          <a:xfrm>
            <a:off x="4297680" y="4727448"/>
            <a:ext cx="3703320" cy="1115568"/>
          </a:xfrm>
          <a:prstGeom prst="roundRect">
            <a:avLst>
              <a:gd name="adj" fmla="val 6557"/>
            </a:avLst>
          </a:prstGeom>
          <a:solidFill>
            <a:srgbClr val="FFFFFF"/>
          </a:solidFill>
          <a:ln/>
        </p:spPr>
      </p:sp>
      <p:sp>
        <p:nvSpPr>
          <p:cNvPr id="23" name="Text 20"/>
          <p:cNvSpPr/>
          <p:nvPr/>
        </p:nvSpPr>
        <p:spPr>
          <a:xfrm>
            <a:off x="4480560" y="4873752"/>
            <a:ext cx="3337560" cy="219456"/>
          </a:xfrm>
          <a:prstGeom prst="rect">
            <a:avLst/>
          </a:prstGeom>
          <a:noFill/>
          <a:ln/>
        </p:spPr>
        <p:txBody>
          <a:bodyPr wrap="square" lIns="0" tIns="0" rIns="0" bIns="0" rtlCol="0" anchor="ctr"/>
          <a:lstStyle/>
          <a:p>
            <a:pPr indent="0" marL="0">
              <a:buNone/>
            </a:pPr>
            <a:r>
              <a:rPr lang="en-US" sz="1100" b="1" spc="80" kern="0" dirty="0">
                <a:solidFill>
                  <a:srgbClr val="1F7A72"/>
                </a:solidFill>
                <a:latin typeface="Calibri" pitchFamily="34" charset="0"/>
                <a:ea typeface="Calibri" pitchFamily="34" charset="-122"/>
                <a:cs typeface="Calibri" pitchFamily="34" charset="-120"/>
              </a:rPr>
              <a:t>PEOPLE</a:t>
            </a:r>
            <a:endParaRPr lang="en-US" sz="1100" dirty="0"/>
          </a:p>
        </p:txBody>
      </p:sp>
      <p:sp>
        <p:nvSpPr>
          <p:cNvPr id="24" name="Text 21"/>
          <p:cNvSpPr/>
          <p:nvPr/>
        </p:nvSpPr>
        <p:spPr>
          <a:xfrm>
            <a:off x="4480560" y="5148072"/>
            <a:ext cx="3337560" cy="530352"/>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~480 staff  ·  ~210 in the field</a:t>
            </a:r>
            <a:endParaRPr lang="en-US" sz="1400" dirty="0"/>
          </a:p>
        </p:txBody>
      </p:sp>
      <p:sp>
        <p:nvSpPr>
          <p:cNvPr id="25" name="Shape 22"/>
          <p:cNvSpPr/>
          <p:nvPr/>
        </p:nvSpPr>
        <p:spPr>
          <a:xfrm>
            <a:off x="8138160" y="4727448"/>
            <a:ext cx="3703320" cy="1115568"/>
          </a:xfrm>
          <a:prstGeom prst="roundRect">
            <a:avLst>
              <a:gd name="adj" fmla="val 6557"/>
            </a:avLst>
          </a:prstGeom>
          <a:solidFill>
            <a:srgbClr val="FFFFFF"/>
          </a:solidFill>
          <a:ln/>
        </p:spPr>
      </p:sp>
      <p:sp>
        <p:nvSpPr>
          <p:cNvPr id="26" name="Text 23"/>
          <p:cNvSpPr/>
          <p:nvPr/>
        </p:nvSpPr>
        <p:spPr>
          <a:xfrm>
            <a:off x="8321040" y="4873752"/>
            <a:ext cx="3337560" cy="219456"/>
          </a:xfrm>
          <a:prstGeom prst="rect">
            <a:avLst/>
          </a:prstGeom>
          <a:noFill/>
          <a:ln/>
        </p:spPr>
        <p:txBody>
          <a:bodyPr wrap="square" lIns="0" tIns="0" rIns="0" bIns="0" rtlCol="0" anchor="ctr"/>
          <a:lstStyle/>
          <a:p>
            <a:pPr indent="0" marL="0">
              <a:buNone/>
            </a:pPr>
            <a:r>
              <a:rPr lang="en-US" sz="1100" b="1" spc="80" kern="0" dirty="0">
                <a:solidFill>
                  <a:srgbClr val="1F7A72"/>
                </a:solidFill>
                <a:latin typeface="Calibri" pitchFamily="34" charset="0"/>
                <a:ea typeface="Calibri" pitchFamily="34" charset="-122"/>
                <a:cs typeface="Calibri" pitchFamily="34" charset="-120"/>
              </a:rPr>
              <a:t>REACH*</a:t>
            </a:r>
            <a:endParaRPr lang="en-US" sz="1100" dirty="0"/>
          </a:p>
        </p:txBody>
      </p:sp>
      <p:sp>
        <p:nvSpPr>
          <p:cNvPr id="27" name="Text 24"/>
          <p:cNvSpPr/>
          <p:nvPr/>
        </p:nvSpPr>
        <p:spPr>
          <a:xfrm>
            <a:off x="8321040" y="5148072"/>
            <a:ext cx="3337560" cy="530352"/>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1.2 crore learners  ·  31,000 schools  ·  9 states</a:t>
            </a:r>
            <a:endParaRPr lang="en-US" sz="1400" dirty="0"/>
          </a:p>
        </p:txBody>
      </p:sp>
      <p:sp>
        <p:nvSpPr>
          <p:cNvPr id="28" name="Text 25"/>
          <p:cNvSpPr/>
          <p:nvPr/>
        </p:nvSpPr>
        <p:spPr>
          <a:xfrm>
            <a:off x="457200" y="5989320"/>
            <a:ext cx="11247120" cy="256032"/>
          </a:xfrm>
          <a:prstGeom prst="rect">
            <a:avLst/>
          </a:prstGeom>
          <a:noFill/>
          <a:ln/>
        </p:spPr>
        <p:txBody>
          <a:bodyPr wrap="square" lIns="0" tIns="0" rIns="0" bIns="0" rtlCol="0" anchor="ctr"/>
          <a:lstStyle/>
          <a:p>
            <a:pPr indent="0" marL="0">
              <a:buNone/>
            </a:pPr>
            <a:r>
              <a:rPr lang="en-US" sz="1200" i="1" dirty="0">
                <a:solidFill>
                  <a:srgbClr val="5B6A7A"/>
                </a:solidFill>
                <a:latin typeface="Calibri" pitchFamily="34" charset="0"/>
                <a:ea typeface="Calibri" pitchFamily="34" charset="-122"/>
                <a:cs typeface="Calibri" pitchFamily="34" charset="-120"/>
              </a:rPr>
              <a:t>* Reach, school and revenue figures for Vidyanta are illustrative company numbers, not audited results.</a:t>
            </a:r>
            <a:endParaRPr lang="en-US" sz="1200" dirty="0"/>
          </a:p>
        </p:txBody>
      </p:sp>
      <p:sp>
        <p:nvSpPr>
          <p:cNvPr id="29" name="Text 26"/>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30" name="Text 27"/>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07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WHY THE FIRM EXISTS</a:t>
            </a:r>
            <a:endParaRPr lang="en-US" sz="1100" dirty="0"/>
          </a:p>
        </p:txBody>
      </p:sp>
      <p:sp>
        <p:nvSpPr>
          <p:cNvPr id="4" name="Text 2"/>
          <p:cNvSpPr/>
          <p:nvPr/>
        </p:nvSpPr>
        <p:spPr>
          <a:xfrm>
            <a:off x="457200" y="438912"/>
            <a:ext cx="11247120" cy="365760"/>
          </a:xfrm>
          <a:prstGeom prst="rect">
            <a:avLst/>
          </a:prstGeom>
          <a:noFill/>
          <a:ln/>
        </p:spPr>
        <p:txBody>
          <a:bodyPr wrap="square" lIns="0" tIns="0" rIns="0" bIns="0" rtlCol="0" anchor="ctr"/>
          <a:lstStyle/>
          <a:p>
            <a:pPr indent="0" marL="0">
              <a:buNone/>
            </a:pPr>
            <a:r>
              <a:rPr lang="en-US" sz="2600" dirty="0">
                <a:solidFill>
                  <a:srgbClr val="1B2A4A"/>
                </a:solidFill>
                <a:latin typeface="Georgia" pitchFamily="34" charset="0"/>
                <a:ea typeface="Georgia" pitchFamily="34" charset="-122"/>
                <a:cs typeface="Georgia" pitchFamily="34" charset="-120"/>
              </a:rPr>
              <a:t>Vision, mission, and what we sell</a:t>
            </a:r>
            <a:endParaRPr lang="en-US" sz="2600" dirty="0"/>
          </a:p>
        </p:txBody>
      </p:sp>
      <p:sp>
        <p:nvSpPr>
          <p:cNvPr id="5" name="Shape 3"/>
          <p:cNvSpPr/>
          <p:nvPr/>
        </p:nvSpPr>
        <p:spPr>
          <a:xfrm>
            <a:off x="457200" y="960120"/>
            <a:ext cx="11247120" cy="1298448"/>
          </a:xfrm>
          <a:prstGeom prst="roundRect">
            <a:avLst>
              <a:gd name="adj" fmla="val 5634"/>
            </a:avLst>
          </a:prstGeom>
          <a:solidFill>
            <a:srgbClr val="1B2A4A"/>
          </a:solidFill>
          <a:ln/>
        </p:spPr>
      </p:sp>
      <p:sp>
        <p:nvSpPr>
          <p:cNvPr id="6" name="Text 4"/>
          <p:cNvSpPr/>
          <p:nvPr/>
        </p:nvSpPr>
        <p:spPr>
          <a:xfrm>
            <a:off x="685800" y="1078992"/>
            <a:ext cx="10789920" cy="201168"/>
          </a:xfrm>
          <a:prstGeom prst="rect">
            <a:avLst/>
          </a:prstGeom>
          <a:noFill/>
          <a:ln/>
        </p:spPr>
        <p:txBody>
          <a:bodyPr wrap="square" lIns="0" tIns="0" rIns="0" bIns="0" rtlCol="0" anchor="ctr"/>
          <a:lstStyle/>
          <a:p>
            <a:pPr indent="0" marL="0">
              <a:buNone/>
            </a:pPr>
            <a:r>
              <a:rPr lang="en-US" sz="1200" b="1" spc="120" kern="0" dirty="0">
                <a:solidFill>
                  <a:srgbClr val="E8A317"/>
                </a:solidFill>
                <a:latin typeface="Calibri" pitchFamily="34" charset="0"/>
                <a:ea typeface="Calibri" pitchFamily="34" charset="-122"/>
                <a:cs typeface="Calibri" pitchFamily="34" charset="-120"/>
              </a:rPr>
              <a:t>VISION</a:t>
            </a:r>
            <a:endParaRPr lang="en-US" sz="1200" dirty="0"/>
          </a:p>
        </p:txBody>
      </p:sp>
      <p:sp>
        <p:nvSpPr>
          <p:cNvPr id="7" name="Text 5"/>
          <p:cNvSpPr/>
          <p:nvPr/>
        </p:nvSpPr>
        <p:spPr>
          <a:xfrm>
            <a:off x="685800" y="1335024"/>
            <a:ext cx="10789920" cy="731520"/>
          </a:xfrm>
          <a:prstGeom prst="rect">
            <a:avLst/>
          </a:prstGeom>
          <a:noFill/>
          <a:ln/>
        </p:spPr>
        <p:txBody>
          <a:bodyPr wrap="square" lIns="0" tIns="0" rIns="0" bIns="0" rtlCol="0" anchor="ctr"/>
          <a:lstStyle/>
          <a:p>
            <a:pPr indent="0" marL="0">
              <a:buNone/>
            </a:pPr>
            <a:r>
              <a:rPr lang="en-US" sz="2000" dirty="0">
                <a:solidFill>
                  <a:srgbClr val="FFFFFF"/>
                </a:solidFill>
                <a:latin typeface="Georgia" pitchFamily="34" charset="0"/>
                <a:ea typeface="Georgia" pitchFamily="34" charset="-122"/>
                <a:cs typeface="Georgia" pitchFamily="34" charset="-120"/>
              </a:rPr>
              <a:t>An India where no child’s ability to read, count and reason is decided by the pin code she is born in.</a:t>
            </a:r>
            <a:endParaRPr lang="en-US" sz="2000" dirty="0"/>
          </a:p>
        </p:txBody>
      </p:sp>
      <p:sp>
        <p:nvSpPr>
          <p:cNvPr id="8" name="Shape 6"/>
          <p:cNvSpPr/>
          <p:nvPr/>
        </p:nvSpPr>
        <p:spPr>
          <a:xfrm>
            <a:off x="457200" y="2395728"/>
            <a:ext cx="11247120" cy="1170432"/>
          </a:xfrm>
          <a:prstGeom prst="roundRect">
            <a:avLst>
              <a:gd name="adj" fmla="val 6250"/>
            </a:avLst>
          </a:prstGeom>
          <a:solidFill>
            <a:srgbClr val="FFFFFF"/>
          </a:solidFill>
          <a:ln/>
        </p:spPr>
      </p:sp>
      <p:sp>
        <p:nvSpPr>
          <p:cNvPr id="9" name="Text 7"/>
          <p:cNvSpPr/>
          <p:nvPr/>
        </p:nvSpPr>
        <p:spPr>
          <a:xfrm>
            <a:off x="685800" y="2505456"/>
            <a:ext cx="10789920" cy="201168"/>
          </a:xfrm>
          <a:prstGeom prst="rect">
            <a:avLst/>
          </a:prstGeom>
          <a:noFill/>
          <a:ln/>
        </p:spPr>
        <p:txBody>
          <a:bodyPr wrap="square" lIns="0" tIns="0" rIns="0" bIns="0" rtlCol="0" anchor="ctr"/>
          <a:lstStyle/>
          <a:p>
            <a:pPr indent="0" marL="0">
              <a:buNone/>
            </a:pPr>
            <a:r>
              <a:rPr lang="en-US" sz="1200" b="1" spc="120" kern="0" dirty="0">
                <a:solidFill>
                  <a:srgbClr val="1F7A72"/>
                </a:solidFill>
                <a:latin typeface="Calibri" pitchFamily="34" charset="0"/>
                <a:ea typeface="Calibri" pitchFamily="34" charset="-122"/>
                <a:cs typeface="Calibri" pitchFamily="34" charset="-120"/>
              </a:rPr>
              <a:t>MISSION</a:t>
            </a:r>
            <a:endParaRPr lang="en-US" sz="1200" dirty="0"/>
          </a:p>
        </p:txBody>
      </p:sp>
      <p:sp>
        <p:nvSpPr>
          <p:cNvPr id="10" name="Text 8"/>
          <p:cNvSpPr/>
          <p:nvPr/>
        </p:nvSpPr>
        <p:spPr>
          <a:xfrm>
            <a:off x="685800" y="2761488"/>
            <a:ext cx="10789920" cy="640080"/>
          </a:xfrm>
          <a:prstGeom prst="rect">
            <a:avLst/>
          </a:prstGeom>
          <a:noFill/>
          <a:ln/>
        </p:spPr>
        <p:txBody>
          <a:bodyPr wrap="square" lIns="0" tIns="0" rIns="0" bIns="0" rtlCol="0" anchor="ctr"/>
          <a:lstStyle/>
          <a:p>
            <a:pPr indent="0" marL="0">
              <a:buNone/>
            </a:pPr>
            <a:r>
              <a:rPr lang="en-US" sz="1500" dirty="0">
                <a:solidFill>
                  <a:srgbClr val="1B2A4A"/>
                </a:solidFill>
                <a:latin typeface="Calibri" pitchFamily="34" charset="0"/>
                <a:ea typeface="Calibri" pitchFamily="34" charset="-122"/>
                <a:cs typeface="Calibri" pitchFamily="34" charset="-120"/>
              </a:rPr>
              <a:t>Build tools that work on the devices families already own and in schools connectivity has not reached. Train the teachers who use them. Publish what children actually learn — including the years the numbers disappoint us.</a:t>
            </a:r>
            <a:endParaRPr lang="en-US" sz="1500" dirty="0"/>
          </a:p>
        </p:txBody>
      </p:sp>
      <p:sp>
        <p:nvSpPr>
          <p:cNvPr id="11" name="Shape 9"/>
          <p:cNvSpPr/>
          <p:nvPr/>
        </p:nvSpPr>
        <p:spPr>
          <a:xfrm>
            <a:off x="457200" y="3730752"/>
            <a:ext cx="3703320" cy="2121408"/>
          </a:xfrm>
          <a:prstGeom prst="roundRect">
            <a:avLst>
              <a:gd name="adj" fmla="val 3448"/>
            </a:avLst>
          </a:prstGeom>
          <a:solidFill>
            <a:srgbClr val="FFFFFF"/>
          </a:solidFill>
          <a:ln/>
        </p:spPr>
      </p:sp>
      <p:sp>
        <p:nvSpPr>
          <p:cNvPr id="12" name="Shape 10"/>
          <p:cNvSpPr/>
          <p:nvPr/>
        </p:nvSpPr>
        <p:spPr>
          <a:xfrm>
            <a:off x="457200" y="3730752"/>
            <a:ext cx="3703320" cy="91440"/>
          </a:xfrm>
          <a:prstGeom prst="rect">
            <a:avLst/>
          </a:prstGeom>
          <a:solidFill>
            <a:srgbClr val="1F7A72"/>
          </a:solidFill>
          <a:ln/>
        </p:spPr>
      </p:sp>
      <p:sp>
        <p:nvSpPr>
          <p:cNvPr id="13" name="Text 11"/>
          <p:cNvSpPr/>
          <p:nvPr/>
        </p:nvSpPr>
        <p:spPr>
          <a:xfrm>
            <a:off x="658368" y="3950208"/>
            <a:ext cx="3291840" cy="274320"/>
          </a:xfrm>
          <a:prstGeom prst="rect">
            <a:avLst/>
          </a:prstGeom>
          <a:noFill/>
          <a:ln/>
        </p:spPr>
        <p:txBody>
          <a:bodyPr wrap="square" lIns="0" tIns="0" rIns="0" bIns="0" rtlCol="0" anchor="ctr"/>
          <a:lstStyle/>
          <a:p>
            <a:pPr indent="0" marL="0">
              <a:buNone/>
            </a:pPr>
            <a:r>
              <a:rPr lang="en-US" sz="1400" b="1" dirty="0">
                <a:solidFill>
                  <a:srgbClr val="1F7A72"/>
                </a:solidFill>
                <a:latin typeface="Calibri" pitchFamily="34" charset="0"/>
                <a:ea typeface="Calibri" pitchFamily="34" charset="-122"/>
                <a:cs typeface="Calibri" pitchFamily="34" charset="-120"/>
              </a:rPr>
              <a:t>VIDYANTA SETU</a:t>
            </a:r>
            <a:endParaRPr lang="en-US" sz="1400" dirty="0"/>
          </a:p>
        </p:txBody>
      </p:sp>
      <p:sp>
        <p:nvSpPr>
          <p:cNvPr id="14" name="Text 12"/>
          <p:cNvSpPr/>
          <p:nvPr/>
        </p:nvSpPr>
        <p:spPr>
          <a:xfrm>
            <a:off x="658368" y="4297680"/>
            <a:ext cx="3291840" cy="1371600"/>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Offline-first literacy and numeracy for Classes 1–8. Hindi, English and six regional languages. Works on a shared phone.</a:t>
            </a:r>
            <a:endParaRPr lang="en-US" sz="1400" dirty="0"/>
          </a:p>
        </p:txBody>
      </p:sp>
      <p:sp>
        <p:nvSpPr>
          <p:cNvPr id="15" name="Shape 13"/>
          <p:cNvSpPr/>
          <p:nvPr/>
        </p:nvSpPr>
        <p:spPr>
          <a:xfrm>
            <a:off x="4297680" y="3730752"/>
            <a:ext cx="3703320" cy="2121408"/>
          </a:xfrm>
          <a:prstGeom prst="roundRect">
            <a:avLst>
              <a:gd name="adj" fmla="val 3448"/>
            </a:avLst>
          </a:prstGeom>
          <a:solidFill>
            <a:srgbClr val="FFFFFF"/>
          </a:solidFill>
          <a:ln/>
        </p:spPr>
      </p:sp>
      <p:sp>
        <p:nvSpPr>
          <p:cNvPr id="16" name="Shape 14"/>
          <p:cNvSpPr/>
          <p:nvPr/>
        </p:nvSpPr>
        <p:spPr>
          <a:xfrm>
            <a:off x="4297680" y="3730752"/>
            <a:ext cx="3703320" cy="91440"/>
          </a:xfrm>
          <a:prstGeom prst="rect">
            <a:avLst/>
          </a:prstGeom>
          <a:solidFill>
            <a:srgbClr val="C98412"/>
          </a:solidFill>
          <a:ln/>
        </p:spPr>
      </p:sp>
      <p:sp>
        <p:nvSpPr>
          <p:cNvPr id="17" name="Text 15"/>
          <p:cNvSpPr/>
          <p:nvPr/>
        </p:nvSpPr>
        <p:spPr>
          <a:xfrm>
            <a:off x="4498848" y="3950208"/>
            <a:ext cx="3291840" cy="274320"/>
          </a:xfrm>
          <a:prstGeom prst="rect">
            <a:avLst/>
          </a:prstGeom>
          <a:noFill/>
          <a:ln/>
        </p:spPr>
        <p:txBody>
          <a:bodyPr wrap="square" lIns="0" tIns="0" rIns="0" bIns="0" rtlCol="0" anchor="ctr"/>
          <a:lstStyle/>
          <a:p>
            <a:pPr indent="0" marL="0">
              <a:buNone/>
            </a:pPr>
            <a:r>
              <a:rPr lang="en-US" sz="1400" b="1" dirty="0">
                <a:solidFill>
                  <a:srgbClr val="1F7A72"/>
                </a:solidFill>
                <a:latin typeface="Calibri" pitchFamily="34" charset="0"/>
                <a:ea typeface="Calibri" pitchFamily="34" charset="-122"/>
                <a:cs typeface="Calibri" pitchFamily="34" charset="-120"/>
              </a:rPr>
              <a:t>VIDYANTA DRISHTI</a:t>
            </a:r>
            <a:endParaRPr lang="en-US" sz="1400" dirty="0"/>
          </a:p>
        </p:txBody>
      </p:sp>
      <p:sp>
        <p:nvSpPr>
          <p:cNvPr id="18" name="Text 16"/>
          <p:cNvSpPr/>
          <p:nvPr/>
        </p:nvSpPr>
        <p:spPr>
          <a:xfrm>
            <a:off x="4498848" y="4297680"/>
            <a:ext cx="3291840" cy="1371600"/>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Termly assessment against NIPUN Bharat. Dashboards for teachers, blocks and states. This is where published numbers come from.</a:t>
            </a:r>
            <a:endParaRPr lang="en-US" sz="1400" dirty="0"/>
          </a:p>
        </p:txBody>
      </p:sp>
      <p:sp>
        <p:nvSpPr>
          <p:cNvPr id="19" name="Shape 17"/>
          <p:cNvSpPr/>
          <p:nvPr/>
        </p:nvSpPr>
        <p:spPr>
          <a:xfrm>
            <a:off x="8138160" y="3730752"/>
            <a:ext cx="3703320" cy="2121408"/>
          </a:xfrm>
          <a:prstGeom prst="roundRect">
            <a:avLst>
              <a:gd name="adj" fmla="val 3448"/>
            </a:avLst>
          </a:prstGeom>
          <a:solidFill>
            <a:srgbClr val="FFFFFF"/>
          </a:solidFill>
          <a:ln/>
        </p:spPr>
      </p:sp>
      <p:sp>
        <p:nvSpPr>
          <p:cNvPr id="20" name="Shape 18"/>
          <p:cNvSpPr/>
          <p:nvPr/>
        </p:nvSpPr>
        <p:spPr>
          <a:xfrm>
            <a:off x="8138160" y="3730752"/>
            <a:ext cx="3703320" cy="91440"/>
          </a:xfrm>
          <a:prstGeom prst="rect">
            <a:avLst/>
          </a:prstGeom>
          <a:solidFill>
            <a:srgbClr val="1F7A72"/>
          </a:solidFill>
          <a:ln/>
        </p:spPr>
      </p:sp>
      <p:sp>
        <p:nvSpPr>
          <p:cNvPr id="21" name="Text 19"/>
          <p:cNvSpPr/>
          <p:nvPr/>
        </p:nvSpPr>
        <p:spPr>
          <a:xfrm>
            <a:off x="8339328" y="3950208"/>
            <a:ext cx="3291840" cy="274320"/>
          </a:xfrm>
          <a:prstGeom prst="rect">
            <a:avLst/>
          </a:prstGeom>
          <a:noFill/>
          <a:ln/>
        </p:spPr>
        <p:txBody>
          <a:bodyPr wrap="square" lIns="0" tIns="0" rIns="0" bIns="0" rtlCol="0" anchor="ctr"/>
          <a:lstStyle/>
          <a:p>
            <a:pPr indent="0" marL="0">
              <a:buNone/>
            </a:pPr>
            <a:r>
              <a:rPr lang="en-US" sz="1400" b="1" dirty="0">
                <a:solidFill>
                  <a:srgbClr val="1F7A72"/>
                </a:solidFill>
                <a:latin typeface="Calibri" pitchFamily="34" charset="0"/>
                <a:ea typeface="Calibri" pitchFamily="34" charset="-122"/>
                <a:cs typeface="Calibri" pitchFamily="34" charset="-120"/>
              </a:rPr>
              <a:t>VIDYANTA SHALA</a:t>
            </a:r>
            <a:endParaRPr lang="en-US" sz="1400" dirty="0"/>
          </a:p>
        </p:txBody>
      </p:sp>
      <p:sp>
        <p:nvSpPr>
          <p:cNvPr id="22" name="Text 20"/>
          <p:cNvSpPr/>
          <p:nvPr/>
        </p:nvSpPr>
        <p:spPr>
          <a:xfrm>
            <a:off x="8339328" y="4297680"/>
            <a:ext cx="3291840" cy="1371600"/>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Blended teacher development. Short modules plus block workshops on using data to re-teach — not on clicking the software.</a:t>
            </a:r>
            <a:endParaRPr lang="en-US" sz="1400" dirty="0"/>
          </a:p>
        </p:txBody>
      </p:sp>
      <p:sp>
        <p:nvSpPr>
          <p:cNvPr id="23" name="Text 21"/>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24" name="Text 22"/>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08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A PLEDGE WITHOUT A NUMBER, A DATE AND A METHOD IS A SENTIMENT</a:t>
            </a:r>
            <a:endParaRPr lang="en-US" sz="1100" dirty="0"/>
          </a:p>
        </p:txBody>
      </p:sp>
      <p:sp>
        <p:nvSpPr>
          <p:cNvPr id="4" name="Text 2"/>
          <p:cNvSpPr/>
          <p:nvPr/>
        </p:nvSpPr>
        <p:spPr>
          <a:xfrm>
            <a:off x="457200" y="438912"/>
            <a:ext cx="8229600" cy="365760"/>
          </a:xfrm>
          <a:prstGeom prst="rect">
            <a:avLst/>
          </a:prstGeom>
          <a:noFill/>
          <a:ln/>
        </p:spPr>
        <p:txBody>
          <a:bodyPr wrap="square" lIns="0" tIns="0" rIns="0" bIns="0" rtlCol="0" anchor="ctr"/>
          <a:lstStyle/>
          <a:p>
            <a:pPr indent="0" marL="0">
              <a:buNone/>
            </a:pPr>
            <a:r>
              <a:rPr lang="en-US" sz="2600" dirty="0">
                <a:solidFill>
                  <a:srgbClr val="1B2A4A"/>
                </a:solidFill>
                <a:latin typeface="Georgia" pitchFamily="34" charset="0"/>
                <a:ea typeface="Georgia" pitchFamily="34" charset="-122"/>
                <a:cs typeface="Georgia" pitchFamily="34" charset="-120"/>
              </a:rPr>
              <a:t>Four public pledges</a:t>
            </a:r>
            <a:endParaRPr lang="en-US" sz="2600" dirty="0"/>
          </a:p>
        </p:txBody>
      </p:sp>
      <p:sp>
        <p:nvSpPr>
          <p:cNvPr id="5" name="Text 3"/>
          <p:cNvSpPr/>
          <p:nvPr/>
        </p:nvSpPr>
        <p:spPr>
          <a:xfrm>
            <a:off x="6766560" y="493776"/>
            <a:ext cx="4937760" cy="292608"/>
          </a:xfrm>
          <a:prstGeom prst="rect">
            <a:avLst/>
          </a:prstGeom>
          <a:noFill/>
          <a:ln/>
        </p:spPr>
        <p:txBody>
          <a:bodyPr wrap="square" lIns="0" tIns="0" rIns="0" bIns="0" rtlCol="0" anchor="ctr"/>
          <a:lstStyle/>
          <a:p>
            <a:pPr algn="r" indent="0" marL="0">
              <a:buNone/>
            </a:pPr>
            <a:r>
              <a:rPr lang="en-US" sz="1300" i="1" dirty="0">
                <a:solidFill>
                  <a:srgbClr val="1F7A72"/>
                </a:solidFill>
                <a:latin typeface="Calibri" pitchFamily="34" charset="0"/>
                <a:ea typeface="Calibri" pitchFamily="34" charset="-122"/>
                <a:cs typeface="Calibri" pitchFamily="34" charset="-120"/>
              </a:rPr>
              <a:t>Core message: we measure learning, not downloads.</a:t>
            </a:r>
            <a:endParaRPr lang="en-US" sz="1300" dirty="0"/>
          </a:p>
        </p:txBody>
      </p:sp>
      <p:sp>
        <p:nvSpPr>
          <p:cNvPr id="6" name="Shape 4"/>
          <p:cNvSpPr/>
          <p:nvPr/>
        </p:nvSpPr>
        <p:spPr>
          <a:xfrm>
            <a:off x="457200" y="987552"/>
            <a:ext cx="5623560" cy="2304288"/>
          </a:xfrm>
          <a:prstGeom prst="roundRect">
            <a:avLst>
              <a:gd name="adj" fmla="val 3175"/>
            </a:avLst>
          </a:prstGeom>
          <a:solidFill>
            <a:srgbClr val="FFFFFF"/>
          </a:solidFill>
          <a:ln/>
        </p:spPr>
      </p:sp>
      <p:sp>
        <p:nvSpPr>
          <p:cNvPr id="7" name="Shape 5"/>
          <p:cNvSpPr/>
          <p:nvPr/>
        </p:nvSpPr>
        <p:spPr>
          <a:xfrm>
            <a:off x="676656" y="1207008"/>
            <a:ext cx="658368" cy="365760"/>
          </a:xfrm>
          <a:prstGeom prst="roundRect">
            <a:avLst>
              <a:gd name="adj" fmla="val 12500"/>
            </a:avLst>
          </a:prstGeom>
          <a:solidFill>
            <a:srgbClr val="E4EEEC"/>
          </a:solidFill>
          <a:ln/>
        </p:spPr>
      </p:sp>
      <p:sp>
        <p:nvSpPr>
          <p:cNvPr id="8" name="Text 6"/>
          <p:cNvSpPr/>
          <p:nvPr/>
        </p:nvSpPr>
        <p:spPr>
          <a:xfrm>
            <a:off x="676656" y="1207008"/>
            <a:ext cx="658368" cy="365760"/>
          </a:xfrm>
          <a:prstGeom prst="rect">
            <a:avLst/>
          </a:prstGeom>
          <a:noFill/>
          <a:ln/>
        </p:spPr>
        <p:txBody>
          <a:bodyPr wrap="square" lIns="0" tIns="0" rIns="0" bIns="0" rtlCol="0" anchor="ctr"/>
          <a:lstStyle/>
          <a:p>
            <a:pPr algn="ctr" indent="0" marL="0">
              <a:buNone/>
            </a:pPr>
            <a:r>
              <a:rPr lang="en-US" sz="1300" b="1" dirty="0">
                <a:solidFill>
                  <a:srgbClr val="165E58"/>
                </a:solidFill>
                <a:latin typeface="Calibri" pitchFamily="34" charset="0"/>
                <a:ea typeface="Calibri" pitchFamily="34" charset="-122"/>
                <a:cs typeface="Calibri" pitchFamily="34" charset="-120"/>
              </a:rPr>
              <a:t>4.1</a:t>
            </a:r>
            <a:endParaRPr lang="en-US" sz="1300" dirty="0"/>
          </a:p>
        </p:txBody>
      </p:sp>
      <p:sp>
        <p:nvSpPr>
          <p:cNvPr id="9" name="Text 7"/>
          <p:cNvSpPr/>
          <p:nvPr/>
        </p:nvSpPr>
        <p:spPr>
          <a:xfrm>
            <a:off x="1463040" y="1225296"/>
            <a:ext cx="4389120" cy="329184"/>
          </a:xfrm>
          <a:prstGeom prst="rect">
            <a:avLst/>
          </a:prstGeom>
          <a:noFill/>
          <a:ln/>
        </p:spPr>
        <p:txBody>
          <a:bodyPr wrap="square" lIns="0" tIns="0" rIns="0" bIns="0" rtlCol="0" anchor="ctr"/>
          <a:lstStyle/>
          <a:p>
            <a:pPr indent="0" marL="0">
              <a:buNone/>
            </a:pPr>
            <a:r>
              <a:rPr lang="en-US" sz="1700" b="1" dirty="0">
                <a:solidFill>
                  <a:srgbClr val="1B2A4A"/>
                </a:solidFill>
                <a:latin typeface="Calibri" pitchFamily="34" charset="0"/>
                <a:ea typeface="Calibri" pitchFamily="34" charset="-122"/>
                <a:cs typeface="Calibri" pitchFamily="34" charset="-120"/>
              </a:rPr>
              <a:t>Learning, not attendance</a:t>
            </a:r>
            <a:endParaRPr lang="en-US" sz="1700" dirty="0"/>
          </a:p>
        </p:txBody>
      </p:sp>
      <p:sp>
        <p:nvSpPr>
          <p:cNvPr id="10" name="Text 8"/>
          <p:cNvSpPr/>
          <p:nvPr/>
        </p:nvSpPr>
        <p:spPr>
          <a:xfrm>
            <a:off x="676656" y="1737360"/>
            <a:ext cx="5184648" cy="960120"/>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By 2030, 80 of every 100 children in partner schools will read and do arithmetic at grade level by Class 5.</a:t>
            </a:r>
            <a:endParaRPr lang="en-US" sz="1400" dirty="0"/>
          </a:p>
        </p:txBody>
      </p:sp>
      <p:sp>
        <p:nvSpPr>
          <p:cNvPr id="11" name="Text 9"/>
          <p:cNvSpPr/>
          <p:nvPr/>
        </p:nvSpPr>
        <p:spPr>
          <a:xfrm>
            <a:off x="676656" y="2770632"/>
            <a:ext cx="5184648" cy="292608"/>
          </a:xfrm>
          <a:prstGeom prst="rect">
            <a:avLst/>
          </a:prstGeom>
          <a:noFill/>
          <a:ln/>
        </p:spPr>
        <p:txBody>
          <a:bodyPr wrap="square" lIns="0" tIns="0" rIns="0" bIns="0" rtlCol="0" anchor="ctr"/>
          <a:lstStyle/>
          <a:p>
            <a:pPr indent="0" marL="0">
              <a:buNone/>
            </a:pPr>
            <a:r>
              <a:rPr lang="en-US" sz="1300" i="1" dirty="0">
                <a:solidFill>
                  <a:srgbClr val="1F7A72"/>
                </a:solidFill>
                <a:latin typeface="Calibri" pitchFamily="34" charset="0"/>
                <a:ea typeface="Calibri" pitchFamily="34" charset="-122"/>
                <a:cs typeface="Calibri" pitchFamily="34" charset="-120"/>
              </a:rPr>
              <a:t>Today: 61%</a:t>
            </a:r>
            <a:endParaRPr lang="en-US" sz="1300" dirty="0"/>
          </a:p>
        </p:txBody>
      </p:sp>
      <p:sp>
        <p:nvSpPr>
          <p:cNvPr id="12" name="Shape 10"/>
          <p:cNvSpPr/>
          <p:nvPr/>
        </p:nvSpPr>
        <p:spPr>
          <a:xfrm>
            <a:off x="6309360" y="987552"/>
            <a:ext cx="5623560" cy="2304288"/>
          </a:xfrm>
          <a:prstGeom prst="roundRect">
            <a:avLst>
              <a:gd name="adj" fmla="val 3175"/>
            </a:avLst>
          </a:prstGeom>
          <a:solidFill>
            <a:srgbClr val="FFFFFF"/>
          </a:solidFill>
          <a:ln/>
        </p:spPr>
      </p:sp>
      <p:sp>
        <p:nvSpPr>
          <p:cNvPr id="13" name="Shape 11"/>
          <p:cNvSpPr/>
          <p:nvPr/>
        </p:nvSpPr>
        <p:spPr>
          <a:xfrm>
            <a:off x="6528816" y="1207008"/>
            <a:ext cx="658368" cy="365760"/>
          </a:xfrm>
          <a:prstGeom prst="roundRect">
            <a:avLst>
              <a:gd name="adj" fmla="val 12500"/>
            </a:avLst>
          </a:prstGeom>
          <a:solidFill>
            <a:srgbClr val="E4EEEC"/>
          </a:solidFill>
          <a:ln/>
        </p:spPr>
      </p:sp>
      <p:sp>
        <p:nvSpPr>
          <p:cNvPr id="14" name="Text 12"/>
          <p:cNvSpPr/>
          <p:nvPr/>
        </p:nvSpPr>
        <p:spPr>
          <a:xfrm>
            <a:off x="6528816" y="1207008"/>
            <a:ext cx="658368" cy="365760"/>
          </a:xfrm>
          <a:prstGeom prst="rect">
            <a:avLst/>
          </a:prstGeom>
          <a:noFill/>
          <a:ln/>
        </p:spPr>
        <p:txBody>
          <a:bodyPr wrap="square" lIns="0" tIns="0" rIns="0" bIns="0" rtlCol="0" anchor="ctr"/>
          <a:lstStyle/>
          <a:p>
            <a:pPr algn="ctr" indent="0" marL="0">
              <a:buNone/>
            </a:pPr>
            <a:r>
              <a:rPr lang="en-US" sz="1300" b="1" dirty="0">
                <a:solidFill>
                  <a:srgbClr val="165E58"/>
                </a:solidFill>
                <a:latin typeface="Calibri" pitchFamily="34" charset="0"/>
                <a:ea typeface="Calibri" pitchFamily="34" charset="-122"/>
                <a:cs typeface="Calibri" pitchFamily="34" charset="-120"/>
              </a:rPr>
              <a:t>4.4</a:t>
            </a:r>
            <a:endParaRPr lang="en-US" sz="1300" dirty="0"/>
          </a:p>
        </p:txBody>
      </p:sp>
      <p:sp>
        <p:nvSpPr>
          <p:cNvPr id="15" name="Text 13"/>
          <p:cNvSpPr/>
          <p:nvPr/>
        </p:nvSpPr>
        <p:spPr>
          <a:xfrm>
            <a:off x="7315200" y="1225296"/>
            <a:ext cx="4389120" cy="329184"/>
          </a:xfrm>
          <a:prstGeom prst="rect">
            <a:avLst/>
          </a:prstGeom>
          <a:noFill/>
          <a:ln/>
        </p:spPr>
        <p:txBody>
          <a:bodyPr wrap="square" lIns="0" tIns="0" rIns="0" bIns="0" rtlCol="0" anchor="ctr"/>
          <a:lstStyle/>
          <a:p>
            <a:pPr indent="0" marL="0">
              <a:buNone/>
            </a:pPr>
            <a:r>
              <a:rPr lang="en-US" sz="1700" b="1" dirty="0">
                <a:solidFill>
                  <a:srgbClr val="1B2A4A"/>
                </a:solidFill>
                <a:latin typeface="Calibri" pitchFamily="34" charset="0"/>
                <a:ea typeface="Calibri" pitchFamily="34" charset="-122"/>
                <a:cs typeface="Calibri" pitchFamily="34" charset="-120"/>
              </a:rPr>
              <a:t>Skills that lead somewhere</a:t>
            </a:r>
            <a:endParaRPr lang="en-US" sz="1700" dirty="0"/>
          </a:p>
        </p:txBody>
      </p:sp>
      <p:sp>
        <p:nvSpPr>
          <p:cNvPr id="16" name="Text 14"/>
          <p:cNvSpPr/>
          <p:nvPr/>
        </p:nvSpPr>
        <p:spPr>
          <a:xfrm>
            <a:off x="6528816" y="1737360"/>
            <a:ext cx="5184648" cy="960120"/>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Every Class 9 and 10 child in a partner school finishes a digital and work-readiness module before leaving.</a:t>
            </a:r>
            <a:endParaRPr lang="en-US" sz="1400" dirty="0"/>
          </a:p>
        </p:txBody>
      </p:sp>
      <p:sp>
        <p:nvSpPr>
          <p:cNvPr id="17" name="Text 15"/>
          <p:cNvSpPr/>
          <p:nvPr/>
        </p:nvSpPr>
        <p:spPr>
          <a:xfrm>
            <a:off x="6528816" y="2770632"/>
            <a:ext cx="5184648" cy="292608"/>
          </a:xfrm>
          <a:prstGeom prst="rect">
            <a:avLst/>
          </a:prstGeom>
          <a:noFill/>
          <a:ln/>
        </p:spPr>
        <p:txBody>
          <a:bodyPr wrap="square" lIns="0" tIns="0" rIns="0" bIns="0" rtlCol="0" anchor="ctr"/>
          <a:lstStyle/>
          <a:p>
            <a:pPr indent="0" marL="0">
              <a:buNone/>
            </a:pPr>
            <a:r>
              <a:rPr lang="en-US" sz="1300" i="1" dirty="0">
                <a:solidFill>
                  <a:srgbClr val="1F7A72"/>
                </a:solidFill>
                <a:latin typeface="Calibri" pitchFamily="34" charset="0"/>
                <a:ea typeface="Calibri" pitchFamily="34" charset="-122"/>
                <a:cs typeface="Calibri" pitchFamily="34" charset="-120"/>
              </a:rPr>
              <a:t>Measured by completion + assessment</a:t>
            </a:r>
            <a:endParaRPr lang="en-US" sz="1300" dirty="0"/>
          </a:p>
        </p:txBody>
      </p:sp>
      <p:sp>
        <p:nvSpPr>
          <p:cNvPr id="18" name="Shape 16"/>
          <p:cNvSpPr/>
          <p:nvPr/>
        </p:nvSpPr>
        <p:spPr>
          <a:xfrm>
            <a:off x="457200" y="3456432"/>
            <a:ext cx="5623560" cy="2304288"/>
          </a:xfrm>
          <a:prstGeom prst="roundRect">
            <a:avLst>
              <a:gd name="adj" fmla="val 3175"/>
            </a:avLst>
          </a:prstGeom>
          <a:solidFill>
            <a:srgbClr val="FFFFFF"/>
          </a:solidFill>
          <a:ln/>
        </p:spPr>
      </p:sp>
      <p:sp>
        <p:nvSpPr>
          <p:cNvPr id="19" name="Shape 17"/>
          <p:cNvSpPr/>
          <p:nvPr/>
        </p:nvSpPr>
        <p:spPr>
          <a:xfrm>
            <a:off x="676656" y="3675888"/>
            <a:ext cx="658368" cy="365760"/>
          </a:xfrm>
          <a:prstGeom prst="roundRect">
            <a:avLst>
              <a:gd name="adj" fmla="val 12500"/>
            </a:avLst>
          </a:prstGeom>
          <a:solidFill>
            <a:srgbClr val="E4EEEC"/>
          </a:solidFill>
          <a:ln/>
        </p:spPr>
      </p:sp>
      <p:sp>
        <p:nvSpPr>
          <p:cNvPr id="20" name="Text 18"/>
          <p:cNvSpPr/>
          <p:nvPr/>
        </p:nvSpPr>
        <p:spPr>
          <a:xfrm>
            <a:off x="676656" y="3675888"/>
            <a:ext cx="658368" cy="365760"/>
          </a:xfrm>
          <a:prstGeom prst="rect">
            <a:avLst/>
          </a:prstGeom>
          <a:noFill/>
          <a:ln/>
        </p:spPr>
        <p:txBody>
          <a:bodyPr wrap="square" lIns="0" tIns="0" rIns="0" bIns="0" rtlCol="0" anchor="ctr"/>
          <a:lstStyle/>
          <a:p>
            <a:pPr algn="ctr" indent="0" marL="0">
              <a:buNone/>
            </a:pPr>
            <a:r>
              <a:rPr lang="en-US" sz="1300" b="1" dirty="0">
                <a:solidFill>
                  <a:srgbClr val="165E58"/>
                </a:solidFill>
                <a:latin typeface="Calibri" pitchFamily="34" charset="0"/>
                <a:ea typeface="Calibri" pitchFamily="34" charset="-122"/>
                <a:cs typeface="Calibri" pitchFamily="34" charset="-120"/>
              </a:rPr>
              <a:t>4.5</a:t>
            </a:r>
            <a:endParaRPr lang="en-US" sz="1300" dirty="0"/>
          </a:p>
        </p:txBody>
      </p:sp>
      <p:sp>
        <p:nvSpPr>
          <p:cNvPr id="21" name="Text 19"/>
          <p:cNvSpPr/>
          <p:nvPr/>
        </p:nvSpPr>
        <p:spPr>
          <a:xfrm>
            <a:off x="1463040" y="3694176"/>
            <a:ext cx="4389120" cy="329184"/>
          </a:xfrm>
          <a:prstGeom prst="rect">
            <a:avLst/>
          </a:prstGeom>
          <a:noFill/>
          <a:ln/>
        </p:spPr>
        <p:txBody>
          <a:bodyPr wrap="square" lIns="0" tIns="0" rIns="0" bIns="0" rtlCol="0" anchor="ctr"/>
          <a:lstStyle/>
          <a:p>
            <a:pPr indent="0" marL="0">
              <a:buNone/>
            </a:pPr>
            <a:r>
              <a:rPr lang="en-US" sz="1700" b="1" dirty="0">
                <a:solidFill>
                  <a:srgbClr val="1B2A4A"/>
                </a:solidFill>
                <a:latin typeface="Calibri" pitchFamily="34" charset="0"/>
                <a:ea typeface="Calibri" pitchFamily="34" charset="-122"/>
                <a:cs typeface="Calibri" pitchFamily="34" charset="-120"/>
              </a:rPr>
              <a:t>The children the market skips</a:t>
            </a:r>
            <a:endParaRPr lang="en-US" sz="1700" dirty="0"/>
          </a:p>
        </p:txBody>
      </p:sp>
      <p:sp>
        <p:nvSpPr>
          <p:cNvPr id="22" name="Text 20"/>
          <p:cNvSpPr/>
          <p:nvPr/>
        </p:nvSpPr>
        <p:spPr>
          <a:xfrm>
            <a:off x="676656" y="4206240"/>
            <a:ext cx="5184648" cy="960120"/>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7 of 10 new deployments in aspirational or backward districts. At least half of all learners reached will be girls.</a:t>
            </a:r>
            <a:endParaRPr lang="en-US" sz="1400" dirty="0"/>
          </a:p>
        </p:txBody>
      </p:sp>
      <p:sp>
        <p:nvSpPr>
          <p:cNvPr id="23" name="Text 21"/>
          <p:cNvSpPr/>
          <p:nvPr/>
        </p:nvSpPr>
        <p:spPr>
          <a:xfrm>
            <a:off x="676656" y="5239512"/>
            <a:ext cx="5184648" cy="292608"/>
          </a:xfrm>
          <a:prstGeom prst="rect">
            <a:avLst/>
          </a:prstGeom>
          <a:noFill/>
          <a:ln/>
        </p:spPr>
        <p:txBody>
          <a:bodyPr wrap="square" lIns="0" tIns="0" rIns="0" bIns="0" rtlCol="0" anchor="ctr"/>
          <a:lstStyle/>
          <a:p>
            <a:pPr indent="0" marL="0">
              <a:buNone/>
            </a:pPr>
            <a:r>
              <a:rPr lang="en-US" sz="1300" i="1" dirty="0">
                <a:solidFill>
                  <a:srgbClr val="1F7A72"/>
                </a:solidFill>
                <a:latin typeface="Calibri" pitchFamily="34" charset="0"/>
                <a:ea typeface="Calibri" pitchFamily="34" charset="-122"/>
                <a:cs typeface="Calibri" pitchFamily="34" charset="-120"/>
              </a:rPr>
              <a:t>Girls ≈ half already</a:t>
            </a:r>
            <a:endParaRPr lang="en-US" sz="1300" dirty="0"/>
          </a:p>
        </p:txBody>
      </p:sp>
      <p:sp>
        <p:nvSpPr>
          <p:cNvPr id="24" name="Shape 22"/>
          <p:cNvSpPr/>
          <p:nvPr/>
        </p:nvSpPr>
        <p:spPr>
          <a:xfrm>
            <a:off x="6309360" y="3456432"/>
            <a:ext cx="5623560" cy="2304288"/>
          </a:xfrm>
          <a:prstGeom prst="roundRect">
            <a:avLst>
              <a:gd name="adj" fmla="val 3175"/>
            </a:avLst>
          </a:prstGeom>
          <a:solidFill>
            <a:srgbClr val="FFFFFF"/>
          </a:solidFill>
          <a:ln/>
        </p:spPr>
      </p:sp>
      <p:sp>
        <p:nvSpPr>
          <p:cNvPr id="25" name="Shape 23"/>
          <p:cNvSpPr/>
          <p:nvPr/>
        </p:nvSpPr>
        <p:spPr>
          <a:xfrm>
            <a:off x="6528816" y="3675888"/>
            <a:ext cx="658368" cy="365760"/>
          </a:xfrm>
          <a:prstGeom prst="roundRect">
            <a:avLst>
              <a:gd name="adj" fmla="val 12500"/>
            </a:avLst>
          </a:prstGeom>
          <a:solidFill>
            <a:srgbClr val="E4EEEC"/>
          </a:solidFill>
          <a:ln/>
        </p:spPr>
      </p:sp>
      <p:sp>
        <p:nvSpPr>
          <p:cNvPr id="26" name="Text 24"/>
          <p:cNvSpPr/>
          <p:nvPr/>
        </p:nvSpPr>
        <p:spPr>
          <a:xfrm>
            <a:off x="6528816" y="3675888"/>
            <a:ext cx="658368" cy="365760"/>
          </a:xfrm>
          <a:prstGeom prst="rect">
            <a:avLst/>
          </a:prstGeom>
          <a:noFill/>
          <a:ln/>
        </p:spPr>
        <p:txBody>
          <a:bodyPr wrap="square" lIns="0" tIns="0" rIns="0" bIns="0" rtlCol="0" anchor="ctr"/>
          <a:lstStyle/>
          <a:p>
            <a:pPr algn="ctr" indent="0" marL="0">
              <a:buNone/>
            </a:pPr>
            <a:r>
              <a:rPr lang="en-US" sz="1300" b="1" dirty="0">
                <a:solidFill>
                  <a:srgbClr val="165E58"/>
                </a:solidFill>
                <a:latin typeface="Calibri" pitchFamily="34" charset="0"/>
                <a:ea typeface="Calibri" pitchFamily="34" charset="-122"/>
                <a:cs typeface="Calibri" pitchFamily="34" charset="-120"/>
              </a:rPr>
              <a:t>4.c</a:t>
            </a:r>
            <a:endParaRPr lang="en-US" sz="1300" dirty="0"/>
          </a:p>
        </p:txBody>
      </p:sp>
      <p:sp>
        <p:nvSpPr>
          <p:cNvPr id="27" name="Text 25"/>
          <p:cNvSpPr/>
          <p:nvPr/>
        </p:nvSpPr>
        <p:spPr>
          <a:xfrm>
            <a:off x="7315200" y="3694176"/>
            <a:ext cx="4389120" cy="329184"/>
          </a:xfrm>
          <a:prstGeom prst="rect">
            <a:avLst/>
          </a:prstGeom>
          <a:noFill/>
          <a:ln/>
        </p:spPr>
        <p:txBody>
          <a:bodyPr wrap="square" lIns="0" tIns="0" rIns="0" bIns="0" rtlCol="0" anchor="ctr"/>
          <a:lstStyle/>
          <a:p>
            <a:pPr indent="0" marL="0">
              <a:buNone/>
            </a:pPr>
            <a:r>
              <a:rPr lang="en-US" sz="1700" b="1" dirty="0">
                <a:solidFill>
                  <a:srgbClr val="1B2A4A"/>
                </a:solidFill>
                <a:latin typeface="Calibri" pitchFamily="34" charset="0"/>
                <a:ea typeface="Calibri" pitchFamily="34" charset="-122"/>
                <a:cs typeface="Calibri" pitchFamily="34" charset="-120"/>
              </a:rPr>
              <a:t>Teachers first</a:t>
            </a:r>
            <a:endParaRPr lang="en-US" sz="1700" dirty="0"/>
          </a:p>
        </p:txBody>
      </p:sp>
      <p:sp>
        <p:nvSpPr>
          <p:cNvPr id="28" name="Text 26"/>
          <p:cNvSpPr/>
          <p:nvPr/>
        </p:nvSpPr>
        <p:spPr>
          <a:xfrm>
            <a:off x="6528816" y="4206240"/>
            <a:ext cx="5184648" cy="960120"/>
          </a:xfrm>
          <a:prstGeom prst="rect">
            <a:avLst/>
          </a:prstGeom>
          <a:noFill/>
          <a:ln/>
        </p:spPr>
        <p:txBody>
          <a:bodyPr wrap="square" lIns="0" tIns="0" rIns="0" bIns="0" rtlCol="0" anchor="ctr"/>
          <a:lstStyle/>
          <a:p>
            <a:pPr indent="0" marL="0">
              <a:buNone/>
            </a:pPr>
            <a:r>
              <a:rPr lang="en-US" sz="1400" dirty="0">
                <a:solidFill>
                  <a:srgbClr val="1B2A4A"/>
                </a:solidFill>
                <a:latin typeface="Calibri" pitchFamily="34" charset="0"/>
                <a:ea typeface="Calibri" pitchFamily="34" charset="-122"/>
                <a:cs typeface="Calibri" pitchFamily="34" charset="-120"/>
              </a:rPr>
              <a:t>40,000 teachers trained by 2030, with follow-up support for at least two terms after the workshop ends.</a:t>
            </a:r>
            <a:endParaRPr lang="en-US" sz="1400" dirty="0"/>
          </a:p>
        </p:txBody>
      </p:sp>
      <p:sp>
        <p:nvSpPr>
          <p:cNvPr id="29" name="Text 27"/>
          <p:cNvSpPr/>
          <p:nvPr/>
        </p:nvSpPr>
        <p:spPr>
          <a:xfrm>
            <a:off x="6528816" y="5239512"/>
            <a:ext cx="5184648" cy="292608"/>
          </a:xfrm>
          <a:prstGeom prst="rect">
            <a:avLst/>
          </a:prstGeom>
          <a:noFill/>
          <a:ln/>
        </p:spPr>
        <p:txBody>
          <a:bodyPr wrap="square" lIns="0" tIns="0" rIns="0" bIns="0" rtlCol="0" anchor="ctr"/>
          <a:lstStyle/>
          <a:p>
            <a:pPr indent="0" marL="0">
              <a:buNone/>
            </a:pPr>
            <a:r>
              <a:rPr lang="en-US" sz="1300" i="1" dirty="0">
                <a:solidFill>
                  <a:srgbClr val="1F7A72"/>
                </a:solidFill>
                <a:latin typeface="Calibri" pitchFamily="34" charset="0"/>
                <a:ea typeface="Calibri" pitchFamily="34" charset="-122"/>
                <a:cs typeface="Calibri" pitchFamily="34" charset="-120"/>
              </a:rPr>
              <a:t>~12,000 trained so far</a:t>
            </a:r>
            <a:endParaRPr lang="en-US" sz="1300" dirty="0"/>
          </a:p>
        </p:txBody>
      </p:sp>
      <p:sp>
        <p:nvSpPr>
          <p:cNvPr id="30" name="Text 28"/>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31" name="Text 29"/>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09  /  15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ELEVEN GROUPS. ONE MESSAGE THAT MUST STAY TRUE FOR ALL OF THEM.</a:t>
            </a:r>
            <a:endParaRPr lang="en-US" sz="1100" dirty="0"/>
          </a:p>
        </p:txBody>
      </p:sp>
      <p:sp>
        <p:nvSpPr>
          <p:cNvPr id="4" name="Text 2"/>
          <p:cNvSpPr/>
          <p:nvPr/>
        </p:nvSpPr>
        <p:spPr>
          <a:xfrm>
            <a:off x="457200" y="438912"/>
            <a:ext cx="11247120" cy="365760"/>
          </a:xfrm>
          <a:prstGeom prst="rect">
            <a:avLst/>
          </a:prstGeom>
          <a:noFill/>
          <a:ln/>
        </p:spPr>
        <p:txBody>
          <a:bodyPr wrap="square" lIns="0" tIns="0" rIns="0" bIns="0" rtlCol="0" anchor="ctr"/>
          <a:lstStyle/>
          <a:p>
            <a:pPr indent="0" marL="0">
              <a:buNone/>
            </a:pPr>
            <a:r>
              <a:rPr lang="en-US" sz="2600" dirty="0">
                <a:solidFill>
                  <a:srgbClr val="1B2A4A"/>
                </a:solidFill>
                <a:latin typeface="Georgia" pitchFamily="34" charset="0"/>
                <a:ea typeface="Georgia" pitchFamily="34" charset="-122"/>
                <a:cs typeface="Georgia" pitchFamily="34" charset="-120"/>
              </a:rPr>
              <a:t>Who must hear the SDG 4 commitment</a:t>
            </a:r>
            <a:endParaRPr lang="en-US" sz="2600" dirty="0"/>
          </a:p>
        </p:txBody>
      </p:sp>
      <p:sp>
        <p:nvSpPr>
          <p:cNvPr id="5" name="Shape 3"/>
          <p:cNvSpPr/>
          <p:nvPr/>
        </p:nvSpPr>
        <p:spPr>
          <a:xfrm>
            <a:off x="457200" y="960120"/>
            <a:ext cx="11247120" cy="384048"/>
          </a:xfrm>
          <a:prstGeom prst="rect">
            <a:avLst/>
          </a:prstGeom>
          <a:solidFill>
            <a:srgbClr val="1B2A4A"/>
          </a:solidFill>
          <a:ln/>
        </p:spPr>
      </p:sp>
      <p:sp>
        <p:nvSpPr>
          <p:cNvPr id="6" name="Text 4"/>
          <p:cNvSpPr/>
          <p:nvPr/>
        </p:nvSpPr>
        <p:spPr>
          <a:xfrm>
            <a:off x="594360" y="1005840"/>
            <a:ext cx="2103120" cy="292608"/>
          </a:xfrm>
          <a:prstGeom prst="rect">
            <a:avLst/>
          </a:prstGeom>
          <a:noFill/>
          <a:ln/>
        </p:spPr>
        <p:txBody>
          <a:bodyPr wrap="square" lIns="0" tIns="0" rIns="0" bIns="0" rtlCol="0" anchor="ctr"/>
          <a:lstStyle/>
          <a:p>
            <a:pPr indent="0" marL="0">
              <a:buNone/>
            </a:pPr>
            <a:r>
              <a:rPr lang="en-US" sz="1100" b="1" dirty="0">
                <a:solidFill>
                  <a:srgbClr val="E8A317"/>
                </a:solidFill>
                <a:latin typeface="Calibri" pitchFamily="34" charset="0"/>
                <a:ea typeface="Calibri" pitchFamily="34" charset="-122"/>
                <a:cs typeface="Calibri" pitchFamily="34" charset="-120"/>
              </a:rPr>
              <a:t>STAKEHOLDER</a:t>
            </a:r>
            <a:endParaRPr lang="en-US" sz="1100" dirty="0"/>
          </a:p>
        </p:txBody>
      </p:sp>
      <p:sp>
        <p:nvSpPr>
          <p:cNvPr id="7" name="Text 5"/>
          <p:cNvSpPr/>
          <p:nvPr/>
        </p:nvSpPr>
        <p:spPr>
          <a:xfrm>
            <a:off x="2788920" y="1005840"/>
            <a:ext cx="3657600" cy="292608"/>
          </a:xfrm>
          <a:prstGeom prst="rect">
            <a:avLst/>
          </a:prstGeom>
          <a:noFill/>
          <a:ln/>
        </p:spPr>
        <p:txBody>
          <a:bodyPr wrap="square" lIns="0" tIns="0" rIns="0" bIns="0" rtlCol="0" anchor="ctr"/>
          <a:lstStyle/>
          <a:p>
            <a:pPr indent="0" marL="0">
              <a:buNone/>
            </a:pPr>
            <a:r>
              <a:rPr lang="en-US" sz="1100" b="1" dirty="0">
                <a:solidFill>
                  <a:srgbClr val="E8A317"/>
                </a:solidFill>
                <a:latin typeface="Calibri" pitchFamily="34" charset="0"/>
                <a:ea typeface="Calibri" pitchFamily="34" charset="-122"/>
                <a:cs typeface="Calibri" pitchFamily="34" charset="-120"/>
              </a:rPr>
              <a:t>WHAT THEY CARE ABOUT</a:t>
            </a:r>
            <a:endParaRPr lang="en-US" sz="1100" dirty="0"/>
          </a:p>
        </p:txBody>
      </p:sp>
      <p:sp>
        <p:nvSpPr>
          <p:cNvPr id="8" name="Text 6"/>
          <p:cNvSpPr/>
          <p:nvPr/>
        </p:nvSpPr>
        <p:spPr>
          <a:xfrm>
            <a:off x="6583680" y="1005840"/>
            <a:ext cx="4937760" cy="292608"/>
          </a:xfrm>
          <a:prstGeom prst="rect">
            <a:avLst/>
          </a:prstGeom>
          <a:noFill/>
          <a:ln/>
        </p:spPr>
        <p:txBody>
          <a:bodyPr wrap="square" lIns="0" tIns="0" rIns="0" bIns="0" rtlCol="0" anchor="ctr"/>
          <a:lstStyle/>
          <a:p>
            <a:pPr indent="0" marL="0">
              <a:buNone/>
            </a:pPr>
            <a:r>
              <a:rPr lang="en-US" sz="1100" b="1" dirty="0">
                <a:solidFill>
                  <a:srgbClr val="E8A317"/>
                </a:solidFill>
                <a:latin typeface="Calibri" pitchFamily="34" charset="0"/>
                <a:ea typeface="Calibri" pitchFamily="34" charset="-122"/>
                <a:cs typeface="Calibri" pitchFamily="34" charset="-120"/>
              </a:rPr>
              <a:t>WHAT THEY HEAR</a:t>
            </a:r>
            <a:endParaRPr lang="en-US" sz="1100" dirty="0"/>
          </a:p>
        </p:txBody>
      </p:sp>
      <p:sp>
        <p:nvSpPr>
          <p:cNvPr id="9" name="Shape 7"/>
          <p:cNvSpPr/>
          <p:nvPr/>
        </p:nvSpPr>
        <p:spPr>
          <a:xfrm>
            <a:off x="457200" y="1344168"/>
            <a:ext cx="11247120" cy="658368"/>
          </a:xfrm>
          <a:prstGeom prst="rect">
            <a:avLst/>
          </a:prstGeom>
          <a:solidFill>
            <a:srgbClr val="FFFFFF"/>
          </a:solidFill>
          <a:ln/>
        </p:spPr>
      </p:sp>
      <p:sp>
        <p:nvSpPr>
          <p:cNvPr id="10" name="Text 8"/>
          <p:cNvSpPr/>
          <p:nvPr/>
        </p:nvSpPr>
        <p:spPr>
          <a:xfrm>
            <a:off x="594360" y="1344168"/>
            <a:ext cx="2103120" cy="65836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Teachers</a:t>
            </a:r>
            <a:endParaRPr lang="en-US" sz="1400" dirty="0"/>
          </a:p>
        </p:txBody>
      </p:sp>
      <p:sp>
        <p:nvSpPr>
          <p:cNvPr id="11" name="Text 9"/>
          <p:cNvSpPr/>
          <p:nvPr/>
        </p:nvSpPr>
        <p:spPr>
          <a:xfrm>
            <a:off x="2788920" y="1344168"/>
            <a:ext cx="3657600" cy="658368"/>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Does this add work or give time back?</a:t>
            </a:r>
            <a:endParaRPr lang="en-US" sz="1300" dirty="0"/>
          </a:p>
        </p:txBody>
      </p:sp>
      <p:sp>
        <p:nvSpPr>
          <p:cNvPr id="12" name="Text 10"/>
          <p:cNvSpPr/>
          <p:nvPr/>
        </p:nvSpPr>
        <p:spPr>
          <a:xfrm>
            <a:off x="6583680" y="1344168"/>
            <a:ext cx="4937760" cy="65836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The tool supports you. You can override anything it suggests.</a:t>
            </a:r>
            <a:endParaRPr lang="en-US" sz="1300" dirty="0"/>
          </a:p>
        </p:txBody>
      </p:sp>
      <p:sp>
        <p:nvSpPr>
          <p:cNvPr id="13" name="Shape 11"/>
          <p:cNvSpPr/>
          <p:nvPr/>
        </p:nvSpPr>
        <p:spPr>
          <a:xfrm>
            <a:off x="457200" y="2002536"/>
            <a:ext cx="11247120" cy="658368"/>
          </a:xfrm>
          <a:prstGeom prst="rect">
            <a:avLst/>
          </a:prstGeom>
          <a:solidFill>
            <a:srgbClr val="F3EEE3"/>
          </a:solidFill>
          <a:ln/>
        </p:spPr>
      </p:sp>
      <p:sp>
        <p:nvSpPr>
          <p:cNvPr id="14" name="Text 12"/>
          <p:cNvSpPr/>
          <p:nvPr/>
        </p:nvSpPr>
        <p:spPr>
          <a:xfrm>
            <a:off x="594360" y="2002536"/>
            <a:ext cx="2103120" cy="65836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Parents</a:t>
            </a:r>
            <a:endParaRPr lang="en-US" sz="1400" dirty="0"/>
          </a:p>
        </p:txBody>
      </p:sp>
      <p:sp>
        <p:nvSpPr>
          <p:cNvPr id="15" name="Text 13"/>
          <p:cNvSpPr/>
          <p:nvPr/>
        </p:nvSpPr>
        <p:spPr>
          <a:xfrm>
            <a:off x="2788920" y="2002536"/>
            <a:ext cx="3657600" cy="658368"/>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Will my child learn? Is it safe? Does it cost?</a:t>
            </a:r>
            <a:endParaRPr lang="en-US" sz="1300" dirty="0"/>
          </a:p>
        </p:txBody>
      </p:sp>
      <p:sp>
        <p:nvSpPr>
          <p:cNvPr id="16" name="Text 14"/>
          <p:cNvSpPr/>
          <p:nvPr/>
        </p:nvSpPr>
        <p:spPr>
          <a:xfrm>
            <a:off x="6583680" y="2002536"/>
            <a:ext cx="4937760" cy="65836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Free in your school, in your language. Progress every term.</a:t>
            </a:r>
            <a:endParaRPr lang="en-US" sz="1300" dirty="0"/>
          </a:p>
        </p:txBody>
      </p:sp>
      <p:sp>
        <p:nvSpPr>
          <p:cNvPr id="17" name="Shape 15"/>
          <p:cNvSpPr/>
          <p:nvPr/>
        </p:nvSpPr>
        <p:spPr>
          <a:xfrm>
            <a:off x="457200" y="2660904"/>
            <a:ext cx="11247120" cy="658368"/>
          </a:xfrm>
          <a:prstGeom prst="rect">
            <a:avLst/>
          </a:prstGeom>
          <a:solidFill>
            <a:srgbClr val="FFFFFF"/>
          </a:solidFill>
          <a:ln/>
        </p:spPr>
      </p:sp>
      <p:sp>
        <p:nvSpPr>
          <p:cNvPr id="18" name="Text 16"/>
          <p:cNvSpPr/>
          <p:nvPr/>
        </p:nvSpPr>
        <p:spPr>
          <a:xfrm>
            <a:off x="594360" y="2660904"/>
            <a:ext cx="2103120" cy="65836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State departments</a:t>
            </a:r>
            <a:endParaRPr lang="en-US" sz="1400" dirty="0"/>
          </a:p>
        </p:txBody>
      </p:sp>
      <p:sp>
        <p:nvSpPr>
          <p:cNvPr id="19" name="Text 17"/>
          <p:cNvSpPr/>
          <p:nvPr/>
        </p:nvSpPr>
        <p:spPr>
          <a:xfrm>
            <a:off x="2788920" y="2660904"/>
            <a:ext cx="3657600" cy="658368"/>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Can this survive an audit?</a:t>
            </a:r>
            <a:endParaRPr lang="en-US" sz="1300" dirty="0"/>
          </a:p>
        </p:txBody>
      </p:sp>
      <p:sp>
        <p:nvSpPr>
          <p:cNvPr id="20" name="Text 18"/>
          <p:cNvSpPr/>
          <p:nvPr/>
        </p:nvSpPr>
        <p:spPr>
          <a:xfrm>
            <a:off x="6583680" y="2660904"/>
            <a:ext cx="4937760" cy="65836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The same district data, published to you and to the world on the same day.</a:t>
            </a:r>
            <a:endParaRPr lang="en-US" sz="1300" dirty="0"/>
          </a:p>
        </p:txBody>
      </p:sp>
      <p:sp>
        <p:nvSpPr>
          <p:cNvPr id="21" name="Shape 19"/>
          <p:cNvSpPr/>
          <p:nvPr/>
        </p:nvSpPr>
        <p:spPr>
          <a:xfrm>
            <a:off x="457200" y="3319272"/>
            <a:ext cx="11247120" cy="658368"/>
          </a:xfrm>
          <a:prstGeom prst="rect">
            <a:avLst/>
          </a:prstGeom>
          <a:solidFill>
            <a:srgbClr val="F3EEE3"/>
          </a:solidFill>
          <a:ln/>
        </p:spPr>
      </p:sp>
      <p:sp>
        <p:nvSpPr>
          <p:cNvPr id="22" name="Text 20"/>
          <p:cNvSpPr/>
          <p:nvPr/>
        </p:nvSpPr>
        <p:spPr>
          <a:xfrm>
            <a:off x="594360" y="3319272"/>
            <a:ext cx="2103120" cy="65836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Investors / Board</a:t>
            </a:r>
            <a:endParaRPr lang="en-US" sz="1400" dirty="0"/>
          </a:p>
        </p:txBody>
      </p:sp>
      <p:sp>
        <p:nvSpPr>
          <p:cNvPr id="23" name="Text 21"/>
          <p:cNvSpPr/>
          <p:nvPr/>
        </p:nvSpPr>
        <p:spPr>
          <a:xfrm>
            <a:off x="2788920" y="3319272"/>
            <a:ext cx="3657600" cy="658368"/>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Does this protect revenue and reputation?</a:t>
            </a:r>
            <a:endParaRPr lang="en-US" sz="1300" dirty="0"/>
          </a:p>
        </p:txBody>
      </p:sp>
      <p:sp>
        <p:nvSpPr>
          <p:cNvPr id="24" name="Text 22"/>
          <p:cNvSpPr/>
          <p:nvPr/>
        </p:nvSpPr>
        <p:spPr>
          <a:xfrm>
            <a:off x="6583680" y="3319272"/>
            <a:ext cx="4937760" cy="65836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Measured outcomes are the moat — and the defence against tighter ad rules.</a:t>
            </a:r>
            <a:endParaRPr lang="en-US" sz="1300" dirty="0"/>
          </a:p>
        </p:txBody>
      </p:sp>
      <p:sp>
        <p:nvSpPr>
          <p:cNvPr id="25" name="Shape 23"/>
          <p:cNvSpPr/>
          <p:nvPr/>
        </p:nvSpPr>
        <p:spPr>
          <a:xfrm>
            <a:off x="457200" y="3977640"/>
            <a:ext cx="11247120" cy="658368"/>
          </a:xfrm>
          <a:prstGeom prst="rect">
            <a:avLst/>
          </a:prstGeom>
          <a:solidFill>
            <a:srgbClr val="FFFFFF"/>
          </a:solidFill>
          <a:ln/>
        </p:spPr>
      </p:sp>
      <p:sp>
        <p:nvSpPr>
          <p:cNvPr id="26" name="Text 24"/>
          <p:cNvSpPr/>
          <p:nvPr/>
        </p:nvSpPr>
        <p:spPr>
          <a:xfrm>
            <a:off x="594360" y="3977640"/>
            <a:ext cx="2103120" cy="65836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Employees</a:t>
            </a:r>
            <a:endParaRPr lang="en-US" sz="1400" dirty="0"/>
          </a:p>
        </p:txBody>
      </p:sp>
      <p:sp>
        <p:nvSpPr>
          <p:cNvPr id="27" name="Text 25"/>
          <p:cNvSpPr/>
          <p:nvPr/>
        </p:nvSpPr>
        <p:spPr>
          <a:xfrm>
            <a:off x="2788920" y="3977640"/>
            <a:ext cx="3657600" cy="658368"/>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What am I actually measured on?</a:t>
            </a:r>
            <a:endParaRPr lang="en-US" sz="1300" dirty="0"/>
          </a:p>
        </p:txBody>
      </p:sp>
      <p:sp>
        <p:nvSpPr>
          <p:cNvPr id="28" name="Text 26"/>
          <p:cNvSpPr/>
          <p:nvPr/>
        </p:nvSpPr>
        <p:spPr>
          <a:xfrm>
            <a:off x="6583680" y="3977640"/>
            <a:ext cx="4937760" cy="65836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Your target is a child who can read, not a download.</a:t>
            </a:r>
            <a:endParaRPr lang="en-US" sz="1300" dirty="0"/>
          </a:p>
        </p:txBody>
      </p:sp>
      <p:sp>
        <p:nvSpPr>
          <p:cNvPr id="29" name="Shape 27"/>
          <p:cNvSpPr/>
          <p:nvPr/>
        </p:nvSpPr>
        <p:spPr>
          <a:xfrm>
            <a:off x="457200" y="4636008"/>
            <a:ext cx="11247120" cy="658368"/>
          </a:xfrm>
          <a:prstGeom prst="rect">
            <a:avLst/>
          </a:prstGeom>
          <a:solidFill>
            <a:srgbClr val="F3EEE3"/>
          </a:solidFill>
          <a:ln/>
        </p:spPr>
      </p:sp>
      <p:sp>
        <p:nvSpPr>
          <p:cNvPr id="30" name="Text 28"/>
          <p:cNvSpPr/>
          <p:nvPr/>
        </p:nvSpPr>
        <p:spPr>
          <a:xfrm>
            <a:off x="594360" y="4636008"/>
            <a:ext cx="2103120" cy="65836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Media / regulators</a:t>
            </a:r>
            <a:endParaRPr lang="en-US" sz="1400" dirty="0"/>
          </a:p>
        </p:txBody>
      </p:sp>
      <p:sp>
        <p:nvSpPr>
          <p:cNvPr id="31" name="Text 29"/>
          <p:cNvSpPr/>
          <p:nvPr/>
        </p:nvSpPr>
        <p:spPr>
          <a:xfrm>
            <a:off x="2788920" y="4636008"/>
            <a:ext cx="3657600" cy="658368"/>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Is the claim narrow and evidenced?</a:t>
            </a:r>
            <a:endParaRPr lang="en-US" sz="1300" dirty="0"/>
          </a:p>
        </p:txBody>
      </p:sp>
      <p:sp>
        <p:nvSpPr>
          <p:cNvPr id="32" name="Text 30"/>
          <p:cNvSpPr/>
          <p:nvPr/>
        </p:nvSpPr>
        <p:spPr>
          <a:xfrm>
            <a:off x="6583680" y="4636008"/>
            <a:ext cx="4937760" cy="65836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Four targets, dated, sourced. Failures named in the same format as gains.</a:t>
            </a:r>
            <a:endParaRPr lang="en-US" sz="1300" dirty="0"/>
          </a:p>
        </p:txBody>
      </p:sp>
      <p:sp>
        <p:nvSpPr>
          <p:cNvPr id="33" name="Text 31"/>
          <p:cNvSpPr/>
          <p:nvPr/>
        </p:nvSpPr>
        <p:spPr>
          <a:xfrm>
            <a:off x="457200" y="5376672"/>
            <a:ext cx="11247120" cy="502920"/>
          </a:xfrm>
          <a:prstGeom prst="rect">
            <a:avLst/>
          </a:prstGeom>
          <a:noFill/>
          <a:ln/>
        </p:spPr>
        <p:txBody>
          <a:bodyPr wrap="square" lIns="0" tIns="0" rIns="0" bIns="0" rtlCol="0" anchor="ctr"/>
          <a:lstStyle/>
          <a:p>
            <a:pPr indent="0" marL="0">
              <a:buNone/>
            </a:pPr>
            <a:r>
              <a:rPr lang="en-US" sz="1400" i="1" dirty="0">
                <a:solidFill>
                  <a:srgbClr val="1B2A4A"/>
                </a:solidFill>
                <a:latin typeface="Calibri" pitchFamily="34" charset="0"/>
                <a:ea typeface="Calibri" pitchFamily="34" charset="-122"/>
                <a:cs typeface="Calibri" pitchFamily="34" charset="-120"/>
              </a:rPr>
              <a:t>Textbook Mendelow would spend little on teachers and parents. We put ~30% of the communication budget on them. They are the only groups who can make the claim true.</a:t>
            </a:r>
            <a:endParaRPr lang="en-US" sz="1400" dirty="0"/>
          </a:p>
        </p:txBody>
      </p:sp>
      <p:sp>
        <p:nvSpPr>
          <p:cNvPr id="34" name="Text 32"/>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35" name="Text 33"/>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THE ASSIGNMENT’S MAIN CHANNEL</a:t>
            </a:r>
            <a:endParaRPr lang="en-US" sz="1100" dirty="0"/>
          </a:p>
        </p:txBody>
      </p:sp>
      <p:sp>
        <p:nvSpPr>
          <p:cNvPr id="4" name="Text 2"/>
          <p:cNvSpPr/>
          <p:nvPr/>
        </p:nvSpPr>
        <p:spPr>
          <a:xfrm>
            <a:off x="457200" y="438912"/>
            <a:ext cx="11247120" cy="365760"/>
          </a:xfrm>
          <a:prstGeom prst="rect">
            <a:avLst/>
          </a:prstGeom>
          <a:noFill/>
          <a:ln/>
        </p:spPr>
        <p:txBody>
          <a:bodyPr wrap="square" lIns="0" tIns="0" rIns="0" bIns="0" rtlCol="0" anchor="ctr"/>
          <a:lstStyle/>
          <a:p>
            <a:pPr indent="0" marL="0">
              <a:buNone/>
            </a:pPr>
            <a:r>
              <a:rPr lang="en-US" sz="2600" dirty="0">
                <a:solidFill>
                  <a:srgbClr val="1B2A4A"/>
                </a:solidFill>
                <a:latin typeface="Georgia" pitchFamily="34" charset="0"/>
                <a:ea typeface="Georgia" pitchFamily="34" charset="-122"/>
                <a:cs typeface="Georgia" pitchFamily="34" charset="-120"/>
              </a:rPr>
              <a:t>The website is the anchor</a:t>
            </a:r>
            <a:endParaRPr lang="en-US" sz="2600" dirty="0"/>
          </a:p>
        </p:txBody>
      </p:sp>
      <p:sp>
        <p:nvSpPr>
          <p:cNvPr id="5" name="Shape 3"/>
          <p:cNvSpPr/>
          <p:nvPr/>
        </p:nvSpPr>
        <p:spPr>
          <a:xfrm>
            <a:off x="457200" y="960120"/>
            <a:ext cx="3703320" cy="1417320"/>
          </a:xfrm>
          <a:prstGeom prst="roundRect">
            <a:avLst>
              <a:gd name="adj" fmla="val 5161"/>
            </a:avLst>
          </a:prstGeom>
          <a:solidFill>
            <a:srgbClr val="FFFFFF"/>
          </a:solidFill>
          <a:ln/>
        </p:spPr>
      </p:sp>
      <p:sp>
        <p:nvSpPr>
          <p:cNvPr id="6" name="Text 4"/>
          <p:cNvSpPr/>
          <p:nvPr/>
        </p:nvSpPr>
        <p:spPr>
          <a:xfrm>
            <a:off x="640080" y="1078992"/>
            <a:ext cx="3337560" cy="2926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01   We control it</a:t>
            </a:r>
            <a:endParaRPr lang="en-US" sz="1500" dirty="0"/>
          </a:p>
        </p:txBody>
      </p:sp>
      <p:sp>
        <p:nvSpPr>
          <p:cNvPr id="7" name="Text 5"/>
          <p:cNvSpPr/>
          <p:nvPr/>
        </p:nvSpPr>
        <p:spPr>
          <a:xfrm>
            <a:off x="640080" y="1417320"/>
            <a:ext cx="3337560" cy="777240"/>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Nothing is lost in a journalist’s or vendor’s rewrite.</a:t>
            </a:r>
            <a:endParaRPr lang="en-US" sz="1300" dirty="0"/>
          </a:p>
        </p:txBody>
      </p:sp>
      <p:sp>
        <p:nvSpPr>
          <p:cNvPr id="8" name="Shape 6"/>
          <p:cNvSpPr/>
          <p:nvPr/>
        </p:nvSpPr>
        <p:spPr>
          <a:xfrm>
            <a:off x="4297680" y="960120"/>
            <a:ext cx="3703320" cy="1417320"/>
          </a:xfrm>
          <a:prstGeom prst="roundRect">
            <a:avLst>
              <a:gd name="adj" fmla="val 5161"/>
            </a:avLst>
          </a:prstGeom>
          <a:solidFill>
            <a:srgbClr val="FFFFFF"/>
          </a:solidFill>
          <a:ln/>
        </p:spPr>
      </p:sp>
      <p:sp>
        <p:nvSpPr>
          <p:cNvPr id="9" name="Text 7"/>
          <p:cNvSpPr/>
          <p:nvPr/>
        </p:nvSpPr>
        <p:spPr>
          <a:xfrm>
            <a:off x="4480560" y="1078992"/>
            <a:ext cx="3337560" cy="2926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02   Everything points back</a:t>
            </a:r>
            <a:endParaRPr lang="en-US" sz="1500" dirty="0"/>
          </a:p>
        </p:txBody>
      </p:sp>
      <p:sp>
        <p:nvSpPr>
          <p:cNvPr id="10" name="Text 8"/>
          <p:cNvSpPr/>
          <p:nvPr/>
        </p:nvSpPr>
        <p:spPr>
          <a:xfrm>
            <a:off x="4480560" y="1417320"/>
            <a:ext cx="3337560" cy="777240"/>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A press note, a WhatsApp and an investor letter can all be short if they end at the same URL.</a:t>
            </a:r>
            <a:endParaRPr lang="en-US" sz="1300" dirty="0"/>
          </a:p>
        </p:txBody>
      </p:sp>
      <p:sp>
        <p:nvSpPr>
          <p:cNvPr id="11" name="Shape 9"/>
          <p:cNvSpPr/>
          <p:nvPr/>
        </p:nvSpPr>
        <p:spPr>
          <a:xfrm>
            <a:off x="8138160" y="960120"/>
            <a:ext cx="3703320" cy="1417320"/>
          </a:xfrm>
          <a:prstGeom prst="roundRect">
            <a:avLst>
              <a:gd name="adj" fmla="val 5161"/>
            </a:avLst>
          </a:prstGeom>
          <a:solidFill>
            <a:srgbClr val="FFFFFF"/>
          </a:solidFill>
          <a:ln/>
        </p:spPr>
      </p:sp>
      <p:sp>
        <p:nvSpPr>
          <p:cNvPr id="12" name="Text 10"/>
          <p:cNvSpPr/>
          <p:nvPr/>
        </p:nvSpPr>
        <p:spPr>
          <a:xfrm>
            <a:off x="8321040" y="1078992"/>
            <a:ext cx="3337560" cy="292608"/>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03   It is time-stamped</a:t>
            </a:r>
            <a:endParaRPr lang="en-US" sz="1500" dirty="0"/>
          </a:p>
        </p:txBody>
      </p:sp>
      <p:sp>
        <p:nvSpPr>
          <p:cNvPr id="13" name="Text 11"/>
          <p:cNvSpPr/>
          <p:nvPr/>
        </p:nvSpPr>
        <p:spPr>
          <a:xfrm>
            <a:off x="8321040" y="1417320"/>
            <a:ext cx="3337560" cy="777240"/>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A 2026 claim can still be checked in 2030 — which a 2030 goal requires.</a:t>
            </a:r>
            <a:endParaRPr lang="en-US" sz="1300" dirty="0"/>
          </a:p>
        </p:txBody>
      </p:sp>
      <p:sp>
        <p:nvSpPr>
          <p:cNvPr id="14" name="Text 12"/>
          <p:cNvSpPr/>
          <p:nvPr/>
        </p:nvSpPr>
        <p:spPr>
          <a:xfrm>
            <a:off x="457200" y="2542032"/>
            <a:ext cx="11247120" cy="274320"/>
          </a:xfrm>
          <a:prstGeom prst="rect">
            <a:avLst/>
          </a:prstGeom>
          <a:noFill/>
          <a:ln/>
        </p:spPr>
        <p:txBody>
          <a:bodyPr wrap="square" lIns="0" tIns="0" rIns="0" bIns="0" rtlCol="0" anchor="ctr"/>
          <a:lstStyle/>
          <a:p>
            <a:pPr indent="0" marL="0">
              <a:buNone/>
            </a:pPr>
            <a:r>
              <a:rPr lang="en-US" sz="1400" b="1" dirty="0">
                <a:solidFill>
                  <a:srgbClr val="1F7A72"/>
                </a:solidFill>
                <a:latin typeface="Calibri" pitchFamily="34" charset="0"/>
                <a:ea typeface="Calibri" pitchFamily="34" charset="-122"/>
                <a:cs typeface="Calibri" pitchFamily="34" charset="-120"/>
              </a:rPr>
              <a:t>What sits on vidyanta.in — SDG 4 is third in the top navigation, not buried under CSR</a:t>
            </a:r>
            <a:endParaRPr lang="en-US" sz="1400" dirty="0"/>
          </a:p>
        </p:txBody>
      </p:sp>
      <p:sp>
        <p:nvSpPr>
          <p:cNvPr id="15" name="Shape 13"/>
          <p:cNvSpPr/>
          <p:nvPr/>
        </p:nvSpPr>
        <p:spPr>
          <a:xfrm>
            <a:off x="457200" y="2907792"/>
            <a:ext cx="3703320" cy="1298448"/>
          </a:xfrm>
          <a:prstGeom prst="roundRect">
            <a:avLst>
              <a:gd name="adj" fmla="val 5634"/>
            </a:avLst>
          </a:prstGeom>
          <a:solidFill>
            <a:srgbClr val="FFFFFF"/>
          </a:solidFill>
          <a:ln/>
        </p:spPr>
      </p:sp>
      <p:sp>
        <p:nvSpPr>
          <p:cNvPr id="16" name="Text 14"/>
          <p:cNvSpPr/>
          <p:nvPr/>
        </p:nvSpPr>
        <p:spPr>
          <a:xfrm>
            <a:off x="640080" y="3054096"/>
            <a:ext cx="3337560" cy="27432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Home</a:t>
            </a:r>
            <a:endParaRPr lang="en-US" sz="1500" dirty="0"/>
          </a:p>
        </p:txBody>
      </p:sp>
      <p:sp>
        <p:nvSpPr>
          <p:cNvPr id="17" name="Text 15"/>
          <p:cNvSpPr/>
          <p:nvPr/>
        </p:nvSpPr>
        <p:spPr>
          <a:xfrm>
            <a:off x="640080" y="3364992"/>
            <a:ext cx="3337560" cy="685800"/>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Core message. Three live counters. One of them is the shortfall.</a:t>
            </a:r>
            <a:endParaRPr lang="en-US" sz="1300" dirty="0"/>
          </a:p>
        </p:txBody>
      </p:sp>
      <p:sp>
        <p:nvSpPr>
          <p:cNvPr id="18" name="Shape 16"/>
          <p:cNvSpPr/>
          <p:nvPr/>
        </p:nvSpPr>
        <p:spPr>
          <a:xfrm>
            <a:off x="4297680" y="2907792"/>
            <a:ext cx="3703320" cy="1298448"/>
          </a:xfrm>
          <a:prstGeom prst="roundRect">
            <a:avLst>
              <a:gd name="adj" fmla="val 5634"/>
            </a:avLst>
          </a:prstGeom>
          <a:solidFill>
            <a:srgbClr val="FFFFFF"/>
          </a:solidFill>
          <a:ln/>
        </p:spPr>
      </p:sp>
      <p:sp>
        <p:nvSpPr>
          <p:cNvPr id="19" name="Text 17"/>
          <p:cNvSpPr/>
          <p:nvPr/>
        </p:nvSpPr>
        <p:spPr>
          <a:xfrm>
            <a:off x="4480560" y="3054096"/>
            <a:ext cx="3337560" cy="27432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Our commitment</a:t>
            </a:r>
            <a:endParaRPr lang="en-US" sz="1500" dirty="0"/>
          </a:p>
        </p:txBody>
      </p:sp>
      <p:sp>
        <p:nvSpPr>
          <p:cNvPr id="20" name="Text 18"/>
          <p:cNvSpPr/>
          <p:nvPr/>
        </p:nvSpPr>
        <p:spPr>
          <a:xfrm>
            <a:off x="4480560" y="3364992"/>
            <a:ext cx="3337560" cy="685800"/>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Four pledges, the mapping table, and what we do not claim.</a:t>
            </a:r>
            <a:endParaRPr lang="en-US" sz="1300" dirty="0"/>
          </a:p>
        </p:txBody>
      </p:sp>
      <p:sp>
        <p:nvSpPr>
          <p:cNvPr id="21" name="Shape 19"/>
          <p:cNvSpPr/>
          <p:nvPr/>
        </p:nvSpPr>
        <p:spPr>
          <a:xfrm>
            <a:off x="8138160" y="2907792"/>
            <a:ext cx="3703320" cy="1298448"/>
          </a:xfrm>
          <a:prstGeom prst="roundRect">
            <a:avLst>
              <a:gd name="adj" fmla="val 5634"/>
            </a:avLst>
          </a:prstGeom>
          <a:solidFill>
            <a:srgbClr val="FFFFFF"/>
          </a:solidFill>
          <a:ln/>
        </p:spPr>
      </p:sp>
      <p:sp>
        <p:nvSpPr>
          <p:cNvPr id="22" name="Text 20"/>
          <p:cNvSpPr/>
          <p:nvPr/>
        </p:nvSpPr>
        <p:spPr>
          <a:xfrm>
            <a:off x="8321040" y="3054096"/>
            <a:ext cx="3337560" cy="27432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Live dashboard</a:t>
            </a:r>
            <a:endParaRPr lang="en-US" sz="1500" dirty="0"/>
          </a:p>
        </p:txBody>
      </p:sp>
      <p:sp>
        <p:nvSpPr>
          <p:cNvPr id="23" name="Text 21"/>
          <p:cNvSpPr/>
          <p:nvPr/>
        </p:nvSpPr>
        <p:spPr>
          <a:xfrm>
            <a:off x="8321040" y="3364992"/>
            <a:ext cx="3337560" cy="685800"/>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Monthly outcomes. CSV download. Districts behind, named.</a:t>
            </a:r>
            <a:endParaRPr lang="en-US" sz="1300" dirty="0"/>
          </a:p>
        </p:txBody>
      </p:sp>
      <p:sp>
        <p:nvSpPr>
          <p:cNvPr id="24" name="Shape 22"/>
          <p:cNvSpPr/>
          <p:nvPr/>
        </p:nvSpPr>
        <p:spPr>
          <a:xfrm>
            <a:off x="457200" y="4325112"/>
            <a:ext cx="3703320" cy="1298448"/>
          </a:xfrm>
          <a:prstGeom prst="roundRect">
            <a:avLst>
              <a:gd name="adj" fmla="val 5634"/>
            </a:avLst>
          </a:prstGeom>
          <a:solidFill>
            <a:srgbClr val="FFFFFF"/>
          </a:solidFill>
          <a:ln/>
        </p:spPr>
      </p:sp>
      <p:sp>
        <p:nvSpPr>
          <p:cNvPr id="25" name="Text 23"/>
          <p:cNvSpPr/>
          <p:nvPr/>
        </p:nvSpPr>
        <p:spPr>
          <a:xfrm>
            <a:off x="640080" y="4471416"/>
            <a:ext cx="3337560" cy="27432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Field stories</a:t>
            </a:r>
            <a:endParaRPr lang="en-US" sz="1500" dirty="0"/>
          </a:p>
        </p:txBody>
      </p:sp>
      <p:sp>
        <p:nvSpPr>
          <p:cNvPr id="26" name="Text 24"/>
          <p:cNvSpPr/>
          <p:nvPr/>
        </p:nvSpPr>
        <p:spPr>
          <a:xfrm>
            <a:off x="640080" y="4782312"/>
            <a:ext cx="3337560" cy="685800"/>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Teachers and children, with written consent, text and audio.</a:t>
            </a:r>
            <a:endParaRPr lang="en-US" sz="1300" dirty="0"/>
          </a:p>
        </p:txBody>
      </p:sp>
      <p:sp>
        <p:nvSpPr>
          <p:cNvPr id="27" name="Shape 25"/>
          <p:cNvSpPr/>
          <p:nvPr/>
        </p:nvSpPr>
        <p:spPr>
          <a:xfrm>
            <a:off x="4297680" y="4325112"/>
            <a:ext cx="3703320" cy="1298448"/>
          </a:xfrm>
          <a:prstGeom prst="roundRect">
            <a:avLst>
              <a:gd name="adj" fmla="val 5634"/>
            </a:avLst>
          </a:prstGeom>
          <a:solidFill>
            <a:srgbClr val="FFFFFF"/>
          </a:solidFill>
          <a:ln/>
        </p:spPr>
      </p:sp>
      <p:sp>
        <p:nvSpPr>
          <p:cNvPr id="28" name="Text 26"/>
          <p:cNvSpPr/>
          <p:nvPr/>
        </p:nvSpPr>
        <p:spPr>
          <a:xfrm>
            <a:off x="4480560" y="4471416"/>
            <a:ext cx="3337560" cy="27432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Reports</a:t>
            </a:r>
            <a:endParaRPr lang="en-US" sz="1500" dirty="0"/>
          </a:p>
        </p:txBody>
      </p:sp>
      <p:sp>
        <p:nvSpPr>
          <p:cNvPr id="29" name="Text 27"/>
          <p:cNvSpPr/>
          <p:nvPr/>
        </p:nvSpPr>
        <p:spPr>
          <a:xfrm>
            <a:off x="4480560" y="4782312"/>
            <a:ext cx="3337560" cy="685800"/>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Impact report, assurance letter, methodology, correction log.</a:t>
            </a:r>
            <a:endParaRPr lang="en-US" sz="1300" dirty="0"/>
          </a:p>
        </p:txBody>
      </p:sp>
      <p:sp>
        <p:nvSpPr>
          <p:cNvPr id="30" name="Shape 28"/>
          <p:cNvSpPr/>
          <p:nvPr/>
        </p:nvSpPr>
        <p:spPr>
          <a:xfrm>
            <a:off x="8138160" y="4325112"/>
            <a:ext cx="3703320" cy="1298448"/>
          </a:xfrm>
          <a:prstGeom prst="roundRect">
            <a:avLst>
              <a:gd name="adj" fmla="val 5634"/>
            </a:avLst>
          </a:prstGeom>
          <a:solidFill>
            <a:srgbClr val="FFFFFF"/>
          </a:solidFill>
          <a:ln/>
        </p:spPr>
      </p:sp>
      <p:sp>
        <p:nvSpPr>
          <p:cNvPr id="31" name="Text 29"/>
          <p:cNvSpPr/>
          <p:nvPr/>
        </p:nvSpPr>
        <p:spPr>
          <a:xfrm>
            <a:off x="8321040" y="4471416"/>
            <a:ext cx="3337560" cy="27432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Lite + 9 languages</a:t>
            </a:r>
            <a:endParaRPr lang="en-US" sz="1500" dirty="0"/>
          </a:p>
        </p:txBody>
      </p:sp>
      <p:sp>
        <p:nvSpPr>
          <p:cNvPr id="32" name="Text 30"/>
          <p:cNvSpPr/>
          <p:nvPr/>
        </p:nvSpPr>
        <p:spPr>
          <a:xfrm>
            <a:off x="8321040" y="4782312"/>
            <a:ext cx="3337560" cy="685800"/>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Under 300 KB. Native-speaker pages. No trackers on learner pages.</a:t>
            </a:r>
            <a:endParaRPr lang="en-US" sz="1300" dirty="0"/>
          </a:p>
        </p:txBody>
      </p:sp>
      <p:sp>
        <p:nvSpPr>
          <p:cNvPr id="33" name="Text 31"/>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34" name="Text 32"/>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11  /  15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WEBSITE FIRST. THEN THE CHANNELS PEOPLE ALREADY USE.</a:t>
            </a:r>
            <a:endParaRPr lang="en-US" sz="1100" dirty="0"/>
          </a:p>
        </p:txBody>
      </p:sp>
      <p:sp>
        <p:nvSpPr>
          <p:cNvPr id="4" name="Text 2"/>
          <p:cNvSpPr/>
          <p:nvPr/>
        </p:nvSpPr>
        <p:spPr>
          <a:xfrm>
            <a:off x="457200" y="438912"/>
            <a:ext cx="11247120" cy="365760"/>
          </a:xfrm>
          <a:prstGeom prst="rect">
            <a:avLst/>
          </a:prstGeom>
          <a:noFill/>
          <a:ln/>
        </p:spPr>
        <p:txBody>
          <a:bodyPr wrap="square" lIns="0" tIns="0" rIns="0" bIns="0" rtlCol="0" anchor="ctr"/>
          <a:lstStyle/>
          <a:p>
            <a:pPr indent="0" marL="0">
              <a:buNone/>
            </a:pPr>
            <a:r>
              <a:rPr lang="en-US" sz="2600" dirty="0">
                <a:solidFill>
                  <a:srgbClr val="1B2A4A"/>
                </a:solidFill>
                <a:latin typeface="Georgia" pitchFamily="34" charset="0"/>
                <a:ea typeface="Georgia" pitchFamily="34" charset="-122"/>
                <a:cs typeface="Georgia" pitchFamily="34" charset="-120"/>
              </a:rPr>
              <a:t>Other corporate communication media</a:t>
            </a:r>
            <a:endParaRPr lang="en-US" sz="2600" dirty="0"/>
          </a:p>
        </p:txBody>
      </p:sp>
      <p:sp>
        <p:nvSpPr>
          <p:cNvPr id="5" name="Shape 3"/>
          <p:cNvSpPr/>
          <p:nvPr/>
        </p:nvSpPr>
        <p:spPr>
          <a:xfrm>
            <a:off x="457200" y="960120"/>
            <a:ext cx="2788920" cy="1691640"/>
          </a:xfrm>
          <a:prstGeom prst="roundRect">
            <a:avLst>
              <a:gd name="adj" fmla="val 4324"/>
            </a:avLst>
          </a:prstGeom>
          <a:solidFill>
            <a:srgbClr val="FFFFFF"/>
          </a:solidFill>
          <a:ln/>
        </p:spPr>
      </p:sp>
      <p:sp>
        <p:nvSpPr>
          <p:cNvPr id="6" name="Text 4"/>
          <p:cNvSpPr/>
          <p:nvPr/>
        </p:nvSpPr>
        <p:spPr>
          <a:xfrm>
            <a:off x="603504" y="1078992"/>
            <a:ext cx="2496312" cy="329184"/>
          </a:xfrm>
          <a:prstGeom prst="rect">
            <a:avLst/>
          </a:prstGeom>
          <a:noFill/>
          <a:ln/>
        </p:spPr>
        <p:txBody>
          <a:bodyPr wrap="square" lIns="0" tIns="0" rIns="0" bIns="0" rtlCol="0" anchor="ctr"/>
          <a:lstStyle/>
          <a:p>
            <a:pPr indent="0" marL="0">
              <a:buNone/>
            </a:pPr>
            <a:r>
              <a:rPr lang="en-US" sz="1500" b="1" dirty="0">
                <a:solidFill>
                  <a:srgbClr val="1F7A72"/>
                </a:solidFill>
                <a:latin typeface="Calibri" pitchFamily="34" charset="0"/>
                <a:ea typeface="Calibri" pitchFamily="34" charset="-122"/>
                <a:cs typeface="Calibri" pitchFamily="34" charset="-120"/>
              </a:rPr>
              <a:t>Owned  55%</a:t>
            </a:r>
            <a:endParaRPr lang="en-US" sz="1500" dirty="0"/>
          </a:p>
        </p:txBody>
      </p:sp>
      <p:sp>
        <p:nvSpPr>
          <p:cNvPr id="7" name="Text 5"/>
          <p:cNvSpPr/>
          <p:nvPr/>
        </p:nvSpPr>
        <p:spPr>
          <a:xfrm>
            <a:off x="603504" y="1444752"/>
            <a:ext cx="2496312" cy="1051560"/>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Website, dashboard, impact report, intranet, handbooks, notice boards, WhatsApp, IVR.</a:t>
            </a:r>
            <a:endParaRPr lang="en-US" sz="1300" dirty="0"/>
          </a:p>
        </p:txBody>
      </p:sp>
      <p:sp>
        <p:nvSpPr>
          <p:cNvPr id="8" name="Shape 6"/>
          <p:cNvSpPr/>
          <p:nvPr/>
        </p:nvSpPr>
        <p:spPr>
          <a:xfrm>
            <a:off x="3383280" y="960120"/>
            <a:ext cx="2788920" cy="1691640"/>
          </a:xfrm>
          <a:prstGeom prst="roundRect">
            <a:avLst>
              <a:gd name="adj" fmla="val 4324"/>
            </a:avLst>
          </a:prstGeom>
          <a:solidFill>
            <a:srgbClr val="FFFFFF"/>
          </a:solidFill>
          <a:ln/>
        </p:spPr>
      </p:sp>
      <p:sp>
        <p:nvSpPr>
          <p:cNvPr id="9" name="Text 7"/>
          <p:cNvSpPr/>
          <p:nvPr/>
        </p:nvSpPr>
        <p:spPr>
          <a:xfrm>
            <a:off x="3529584" y="1078992"/>
            <a:ext cx="2496312" cy="329184"/>
          </a:xfrm>
          <a:prstGeom prst="rect">
            <a:avLst/>
          </a:prstGeom>
          <a:noFill/>
          <a:ln/>
        </p:spPr>
        <p:txBody>
          <a:bodyPr wrap="square" lIns="0" tIns="0" rIns="0" bIns="0" rtlCol="0" anchor="ctr"/>
          <a:lstStyle/>
          <a:p>
            <a:pPr indent="0" marL="0">
              <a:buNone/>
            </a:pPr>
            <a:r>
              <a:rPr lang="en-US" sz="1500" b="1" dirty="0">
                <a:solidFill>
                  <a:srgbClr val="1F7A72"/>
                </a:solidFill>
                <a:latin typeface="Calibri" pitchFamily="34" charset="0"/>
                <a:ea typeface="Calibri" pitchFamily="34" charset="-122"/>
                <a:cs typeface="Calibri" pitchFamily="34" charset="-120"/>
              </a:rPr>
              <a:t>Shared  20%</a:t>
            </a:r>
            <a:endParaRPr lang="en-US" sz="1500" dirty="0"/>
          </a:p>
        </p:txBody>
      </p:sp>
      <p:sp>
        <p:nvSpPr>
          <p:cNvPr id="10" name="Text 8"/>
          <p:cNvSpPr/>
          <p:nvPr/>
        </p:nvSpPr>
        <p:spPr>
          <a:xfrm>
            <a:off x="3529584" y="1444752"/>
            <a:ext cx="2496312" cy="1051560"/>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Community radio, teacher groups, parent meetings, NGO networks.</a:t>
            </a:r>
            <a:endParaRPr lang="en-US" sz="1300" dirty="0"/>
          </a:p>
        </p:txBody>
      </p:sp>
      <p:sp>
        <p:nvSpPr>
          <p:cNvPr id="11" name="Shape 9"/>
          <p:cNvSpPr/>
          <p:nvPr/>
        </p:nvSpPr>
        <p:spPr>
          <a:xfrm>
            <a:off x="6309360" y="960120"/>
            <a:ext cx="2788920" cy="1691640"/>
          </a:xfrm>
          <a:prstGeom prst="roundRect">
            <a:avLst>
              <a:gd name="adj" fmla="val 4324"/>
            </a:avLst>
          </a:prstGeom>
          <a:solidFill>
            <a:srgbClr val="FFFFFF"/>
          </a:solidFill>
          <a:ln/>
        </p:spPr>
      </p:sp>
      <p:sp>
        <p:nvSpPr>
          <p:cNvPr id="12" name="Text 10"/>
          <p:cNvSpPr/>
          <p:nvPr/>
        </p:nvSpPr>
        <p:spPr>
          <a:xfrm>
            <a:off x="6455664" y="1078992"/>
            <a:ext cx="2496312" cy="329184"/>
          </a:xfrm>
          <a:prstGeom prst="rect">
            <a:avLst/>
          </a:prstGeom>
          <a:noFill/>
          <a:ln/>
        </p:spPr>
        <p:txBody>
          <a:bodyPr wrap="square" lIns="0" tIns="0" rIns="0" bIns="0" rtlCol="0" anchor="ctr"/>
          <a:lstStyle/>
          <a:p>
            <a:pPr indent="0" marL="0">
              <a:buNone/>
            </a:pPr>
            <a:r>
              <a:rPr lang="en-US" sz="1500" b="1" dirty="0">
                <a:solidFill>
                  <a:srgbClr val="1F7A72"/>
                </a:solidFill>
                <a:latin typeface="Calibri" pitchFamily="34" charset="0"/>
                <a:ea typeface="Calibri" pitchFamily="34" charset="-122"/>
                <a:cs typeface="Calibri" pitchFamily="34" charset="-120"/>
              </a:rPr>
              <a:t>Earned  17%</a:t>
            </a:r>
            <a:endParaRPr lang="en-US" sz="1500" dirty="0"/>
          </a:p>
        </p:txBody>
      </p:sp>
      <p:sp>
        <p:nvSpPr>
          <p:cNvPr id="13" name="Text 11"/>
          <p:cNvSpPr/>
          <p:nvPr/>
        </p:nvSpPr>
        <p:spPr>
          <a:xfrm>
            <a:off x="6455664" y="1444752"/>
            <a:ext cx="2496312" cy="1051560"/>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Press, policy citations, conferences. Cannot be bought. Most credible.</a:t>
            </a:r>
            <a:endParaRPr lang="en-US" sz="1300" dirty="0"/>
          </a:p>
        </p:txBody>
      </p:sp>
      <p:sp>
        <p:nvSpPr>
          <p:cNvPr id="14" name="Shape 12"/>
          <p:cNvSpPr/>
          <p:nvPr/>
        </p:nvSpPr>
        <p:spPr>
          <a:xfrm>
            <a:off x="9235440" y="960120"/>
            <a:ext cx="2788920" cy="1691640"/>
          </a:xfrm>
          <a:prstGeom prst="roundRect">
            <a:avLst>
              <a:gd name="adj" fmla="val 4324"/>
            </a:avLst>
          </a:prstGeom>
          <a:solidFill>
            <a:srgbClr val="1B2A4A"/>
          </a:solidFill>
          <a:ln/>
        </p:spPr>
      </p:sp>
      <p:sp>
        <p:nvSpPr>
          <p:cNvPr id="15" name="Text 13"/>
          <p:cNvSpPr/>
          <p:nvPr/>
        </p:nvSpPr>
        <p:spPr>
          <a:xfrm>
            <a:off x="9381744" y="1078992"/>
            <a:ext cx="2496312" cy="329184"/>
          </a:xfrm>
          <a:prstGeom prst="rect">
            <a:avLst/>
          </a:prstGeom>
          <a:noFill/>
          <a:ln/>
        </p:spPr>
        <p:txBody>
          <a:bodyPr wrap="square" lIns="0" tIns="0" rIns="0" bIns="0" rtlCol="0" anchor="ctr"/>
          <a:lstStyle/>
          <a:p>
            <a:pPr indent="0" marL="0">
              <a:buNone/>
            </a:pPr>
            <a:r>
              <a:rPr lang="en-US" sz="1500" b="1" dirty="0">
                <a:solidFill>
                  <a:srgbClr val="E8A317"/>
                </a:solidFill>
                <a:latin typeface="Calibri" pitchFamily="34" charset="0"/>
                <a:ea typeface="Calibri" pitchFamily="34" charset="-122"/>
                <a:cs typeface="Calibri" pitchFamily="34" charset="-120"/>
              </a:rPr>
              <a:t>Paid  8%</a:t>
            </a:r>
            <a:endParaRPr lang="en-US" sz="1500" dirty="0"/>
          </a:p>
        </p:txBody>
      </p:sp>
      <p:sp>
        <p:nvSpPr>
          <p:cNvPr id="16" name="Text 14"/>
          <p:cNvSpPr/>
          <p:nvPr/>
        </p:nvSpPr>
        <p:spPr>
          <a:xfrm>
            <a:off x="9381744" y="1444752"/>
            <a:ext cx="2496312" cy="1051560"/>
          </a:xfrm>
          <a:prstGeom prst="rect">
            <a:avLst/>
          </a:prstGeom>
          <a:noFill/>
          <a:ln/>
        </p:spPr>
        <p:txBody>
          <a:bodyPr wrap="square" lIns="0" tIns="0" rIns="0" bIns="0" rtlCol="0" anchor="ctr"/>
          <a:lstStyle/>
          <a:p>
            <a:pPr indent="0" marL="0">
              <a:buNone/>
            </a:pPr>
            <a:r>
              <a:rPr lang="en-US" sz="1300" dirty="0">
                <a:solidFill>
                  <a:srgbClr val="E4EAF0"/>
                </a:solidFill>
                <a:latin typeface="Calibri" pitchFamily="34" charset="0"/>
                <a:ea typeface="Calibri" pitchFamily="34" charset="-122"/>
                <a:cs typeface="Calibri" pitchFamily="34" charset="-120"/>
              </a:rPr>
              <a:t>Search and local print at launch only. Never used to make an impact claim.</a:t>
            </a:r>
            <a:endParaRPr lang="en-US" sz="1300" dirty="0"/>
          </a:p>
        </p:txBody>
      </p:sp>
      <p:sp>
        <p:nvSpPr>
          <p:cNvPr id="17" name="Text 15"/>
          <p:cNvSpPr/>
          <p:nvPr/>
        </p:nvSpPr>
        <p:spPr>
          <a:xfrm>
            <a:off x="457200" y="2816352"/>
            <a:ext cx="11247120" cy="274320"/>
          </a:xfrm>
          <a:prstGeom prst="rect">
            <a:avLst/>
          </a:prstGeom>
          <a:noFill/>
          <a:ln/>
        </p:spPr>
        <p:txBody>
          <a:bodyPr wrap="square" lIns="0" tIns="0" rIns="0" bIns="0" rtlCol="0" anchor="ctr"/>
          <a:lstStyle/>
          <a:p>
            <a:pPr indent="0" marL="0">
              <a:buNone/>
            </a:pPr>
            <a:r>
              <a:rPr lang="en-US" sz="1400" b="1" dirty="0">
                <a:solidFill>
                  <a:srgbClr val="1F7A72"/>
                </a:solidFill>
                <a:latin typeface="Calibri" pitchFamily="34" charset="0"/>
                <a:ea typeface="Calibri" pitchFamily="34" charset="-122"/>
                <a:cs typeface="Calibri" pitchFamily="34" charset="-120"/>
              </a:rPr>
              <a:t>One artefact per audience — same promise, different form</a:t>
            </a:r>
            <a:endParaRPr lang="en-US" sz="1400" dirty="0"/>
          </a:p>
        </p:txBody>
      </p:sp>
      <p:sp>
        <p:nvSpPr>
          <p:cNvPr id="18" name="Shape 16"/>
          <p:cNvSpPr/>
          <p:nvPr/>
        </p:nvSpPr>
        <p:spPr>
          <a:xfrm>
            <a:off x="457200" y="3182112"/>
            <a:ext cx="3703320" cy="1234440"/>
          </a:xfrm>
          <a:prstGeom prst="roundRect">
            <a:avLst>
              <a:gd name="adj" fmla="val 5926"/>
            </a:avLst>
          </a:prstGeom>
          <a:solidFill>
            <a:srgbClr val="FFFFFF"/>
          </a:solidFill>
          <a:ln/>
        </p:spPr>
      </p:sp>
      <p:sp>
        <p:nvSpPr>
          <p:cNvPr id="19" name="Text 17"/>
          <p:cNvSpPr/>
          <p:nvPr/>
        </p:nvSpPr>
        <p:spPr>
          <a:xfrm>
            <a:off x="640080" y="3291840"/>
            <a:ext cx="3337560" cy="256032"/>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Parents</a:t>
            </a:r>
            <a:endParaRPr lang="en-US" sz="1500" dirty="0"/>
          </a:p>
        </p:txBody>
      </p:sp>
      <p:sp>
        <p:nvSpPr>
          <p:cNvPr id="20" name="Text 18"/>
          <p:cNvSpPr/>
          <p:nvPr/>
        </p:nvSpPr>
        <p:spPr>
          <a:xfrm>
            <a:off x="640080" y="3584448"/>
            <a:ext cx="3337560" cy="713232"/>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Termly WhatsApp + voice note + IVR in the language chosen at enrolment.</a:t>
            </a:r>
            <a:endParaRPr lang="en-US" sz="1300" dirty="0"/>
          </a:p>
        </p:txBody>
      </p:sp>
      <p:sp>
        <p:nvSpPr>
          <p:cNvPr id="21" name="Shape 19"/>
          <p:cNvSpPr/>
          <p:nvPr/>
        </p:nvSpPr>
        <p:spPr>
          <a:xfrm>
            <a:off x="4297680" y="3182112"/>
            <a:ext cx="3703320" cy="1234440"/>
          </a:xfrm>
          <a:prstGeom prst="roundRect">
            <a:avLst>
              <a:gd name="adj" fmla="val 5926"/>
            </a:avLst>
          </a:prstGeom>
          <a:solidFill>
            <a:srgbClr val="FFFFFF"/>
          </a:solidFill>
          <a:ln/>
        </p:spPr>
      </p:sp>
      <p:sp>
        <p:nvSpPr>
          <p:cNvPr id="22" name="Text 20"/>
          <p:cNvSpPr/>
          <p:nvPr/>
        </p:nvSpPr>
        <p:spPr>
          <a:xfrm>
            <a:off x="4480560" y="3291840"/>
            <a:ext cx="3337560" cy="256032"/>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Teachers</a:t>
            </a:r>
            <a:endParaRPr lang="en-US" sz="1500" dirty="0"/>
          </a:p>
        </p:txBody>
      </p:sp>
      <p:sp>
        <p:nvSpPr>
          <p:cNvPr id="23" name="Text 21"/>
          <p:cNvSpPr/>
          <p:nvPr/>
        </p:nvSpPr>
        <p:spPr>
          <a:xfrm>
            <a:off x="4480560" y="3584448"/>
            <a:ext cx="3337560" cy="713232"/>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Printed handbook and block workshop. Override promise in writing.</a:t>
            </a:r>
            <a:endParaRPr lang="en-US" sz="1300" dirty="0"/>
          </a:p>
        </p:txBody>
      </p:sp>
      <p:sp>
        <p:nvSpPr>
          <p:cNvPr id="24" name="Shape 22"/>
          <p:cNvSpPr/>
          <p:nvPr/>
        </p:nvSpPr>
        <p:spPr>
          <a:xfrm>
            <a:off x="8138160" y="3182112"/>
            <a:ext cx="3703320" cy="1234440"/>
          </a:xfrm>
          <a:prstGeom prst="roundRect">
            <a:avLst>
              <a:gd name="adj" fmla="val 5926"/>
            </a:avLst>
          </a:prstGeom>
          <a:solidFill>
            <a:srgbClr val="FFFFFF"/>
          </a:solidFill>
          <a:ln/>
        </p:spPr>
      </p:sp>
      <p:sp>
        <p:nvSpPr>
          <p:cNvPr id="25" name="Text 23"/>
          <p:cNvSpPr/>
          <p:nvPr/>
        </p:nvSpPr>
        <p:spPr>
          <a:xfrm>
            <a:off x="8321040" y="3291840"/>
            <a:ext cx="3337560" cy="256032"/>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Employees</a:t>
            </a:r>
            <a:endParaRPr lang="en-US" sz="1500" dirty="0"/>
          </a:p>
        </p:txBody>
      </p:sp>
      <p:sp>
        <p:nvSpPr>
          <p:cNvPr id="26" name="Text 24"/>
          <p:cNvSpPr/>
          <p:nvPr/>
        </p:nvSpPr>
        <p:spPr>
          <a:xfrm>
            <a:off x="8321040" y="3584448"/>
            <a:ext cx="3337560" cy="713232"/>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Town hall opens with 61%, not 80%. Missed targets on the same slide.</a:t>
            </a:r>
            <a:endParaRPr lang="en-US" sz="1300" dirty="0"/>
          </a:p>
        </p:txBody>
      </p:sp>
      <p:sp>
        <p:nvSpPr>
          <p:cNvPr id="27" name="Shape 25"/>
          <p:cNvSpPr/>
          <p:nvPr/>
        </p:nvSpPr>
        <p:spPr>
          <a:xfrm>
            <a:off x="457200" y="4535424"/>
            <a:ext cx="3703320" cy="1234440"/>
          </a:xfrm>
          <a:prstGeom prst="roundRect">
            <a:avLst>
              <a:gd name="adj" fmla="val 5926"/>
            </a:avLst>
          </a:prstGeom>
          <a:solidFill>
            <a:srgbClr val="FFFFFF"/>
          </a:solidFill>
          <a:ln/>
        </p:spPr>
      </p:sp>
      <p:sp>
        <p:nvSpPr>
          <p:cNvPr id="28" name="Text 26"/>
          <p:cNvSpPr/>
          <p:nvPr/>
        </p:nvSpPr>
        <p:spPr>
          <a:xfrm>
            <a:off x="640080" y="4645152"/>
            <a:ext cx="3337560" cy="256032"/>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Investors</a:t>
            </a:r>
            <a:endParaRPr lang="en-US" sz="1500" dirty="0"/>
          </a:p>
        </p:txBody>
      </p:sp>
      <p:sp>
        <p:nvSpPr>
          <p:cNvPr id="29" name="Text 27"/>
          <p:cNvSpPr/>
          <p:nvPr/>
        </p:nvSpPr>
        <p:spPr>
          <a:xfrm>
            <a:off x="640080" y="4937760"/>
            <a:ext cx="3337560" cy="713232"/>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Two-page letter: finance first, then the four pledges as renewal risk.</a:t>
            </a:r>
            <a:endParaRPr lang="en-US" sz="1300" dirty="0"/>
          </a:p>
        </p:txBody>
      </p:sp>
      <p:sp>
        <p:nvSpPr>
          <p:cNvPr id="30" name="Shape 28"/>
          <p:cNvSpPr/>
          <p:nvPr/>
        </p:nvSpPr>
        <p:spPr>
          <a:xfrm>
            <a:off x="4297680" y="4535424"/>
            <a:ext cx="3703320" cy="1234440"/>
          </a:xfrm>
          <a:prstGeom prst="roundRect">
            <a:avLst>
              <a:gd name="adj" fmla="val 5926"/>
            </a:avLst>
          </a:prstGeom>
          <a:solidFill>
            <a:srgbClr val="FFFFFF"/>
          </a:solidFill>
          <a:ln/>
        </p:spPr>
      </p:sp>
      <p:sp>
        <p:nvSpPr>
          <p:cNvPr id="31" name="Text 29"/>
          <p:cNvSpPr/>
          <p:nvPr/>
        </p:nvSpPr>
        <p:spPr>
          <a:xfrm>
            <a:off x="4480560" y="4645152"/>
            <a:ext cx="3337560" cy="256032"/>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Media</a:t>
            </a:r>
            <a:endParaRPr lang="en-US" sz="1500" dirty="0"/>
          </a:p>
        </p:txBody>
      </p:sp>
      <p:sp>
        <p:nvSpPr>
          <p:cNvPr id="32" name="Text 30"/>
          <p:cNvSpPr/>
          <p:nvPr/>
        </p:nvSpPr>
        <p:spPr>
          <a:xfrm>
            <a:off x="4480560" y="4937760"/>
            <a:ext cx="3337560" cy="713232"/>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June release names five districts behind. ‘A report of only good districts is an advertisement.’</a:t>
            </a:r>
            <a:endParaRPr lang="en-US" sz="1300" dirty="0"/>
          </a:p>
        </p:txBody>
      </p:sp>
      <p:sp>
        <p:nvSpPr>
          <p:cNvPr id="33" name="Shape 31"/>
          <p:cNvSpPr/>
          <p:nvPr/>
        </p:nvSpPr>
        <p:spPr>
          <a:xfrm>
            <a:off x="8138160" y="4535424"/>
            <a:ext cx="3703320" cy="1234440"/>
          </a:xfrm>
          <a:prstGeom prst="roundRect">
            <a:avLst>
              <a:gd name="adj" fmla="val 5926"/>
            </a:avLst>
          </a:prstGeom>
          <a:solidFill>
            <a:srgbClr val="FFFFFF"/>
          </a:solidFill>
          <a:ln/>
        </p:spPr>
      </p:sp>
      <p:sp>
        <p:nvSpPr>
          <p:cNvPr id="34" name="Text 32"/>
          <p:cNvSpPr/>
          <p:nvPr/>
        </p:nvSpPr>
        <p:spPr>
          <a:xfrm>
            <a:off x="8321040" y="4645152"/>
            <a:ext cx="3337560" cy="256032"/>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Communities</a:t>
            </a:r>
            <a:endParaRPr lang="en-US" sz="1500" dirty="0"/>
          </a:p>
        </p:txBody>
      </p:sp>
      <p:sp>
        <p:nvSpPr>
          <p:cNvPr id="35" name="Text 33"/>
          <p:cNvSpPr/>
          <p:nvPr/>
        </p:nvSpPr>
        <p:spPr>
          <a:xfrm>
            <a:off x="8321040" y="4937760"/>
            <a:ext cx="3337560" cy="713232"/>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‘The Last Child’ on community radio. Single-colour school poster. Toll-free grievance line.</a:t>
            </a:r>
            <a:endParaRPr lang="en-US" sz="1300" dirty="0"/>
          </a:p>
        </p:txBody>
      </p:sp>
      <p:sp>
        <p:nvSpPr>
          <p:cNvPr id="36" name="Text 34"/>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37" name="Text 35"/>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EVIDENCE FIRST, THEN SCALE, THEN LARGER PUBLIC CLAIMS</a:t>
            </a:r>
            <a:endParaRPr lang="en-US" sz="1100" dirty="0"/>
          </a:p>
        </p:txBody>
      </p:sp>
      <p:sp>
        <p:nvSpPr>
          <p:cNvPr id="4" name="Text 2"/>
          <p:cNvSpPr/>
          <p:nvPr/>
        </p:nvSpPr>
        <p:spPr>
          <a:xfrm>
            <a:off x="457200" y="438912"/>
            <a:ext cx="11247120" cy="365760"/>
          </a:xfrm>
          <a:prstGeom prst="rect">
            <a:avLst/>
          </a:prstGeom>
          <a:noFill/>
          <a:ln/>
        </p:spPr>
        <p:txBody>
          <a:bodyPr wrap="square" lIns="0" tIns="0" rIns="0" bIns="0" rtlCol="0" anchor="ctr"/>
          <a:lstStyle/>
          <a:p>
            <a:pPr indent="0" marL="0">
              <a:buNone/>
            </a:pPr>
            <a:r>
              <a:rPr lang="en-US" sz="2600" dirty="0">
                <a:solidFill>
                  <a:srgbClr val="1B2A4A"/>
                </a:solidFill>
                <a:latin typeface="Georgia" pitchFamily="34" charset="0"/>
                <a:ea typeface="Georgia" pitchFamily="34" charset="-122"/>
                <a:cs typeface="Georgia" pitchFamily="34" charset="-120"/>
              </a:rPr>
              <a:t>Three-year plan  ·  2026 to 2029</a:t>
            </a:r>
            <a:endParaRPr lang="en-US" sz="2600" dirty="0"/>
          </a:p>
        </p:txBody>
      </p:sp>
      <p:sp>
        <p:nvSpPr>
          <p:cNvPr id="5" name="Shape 3"/>
          <p:cNvSpPr/>
          <p:nvPr/>
        </p:nvSpPr>
        <p:spPr>
          <a:xfrm>
            <a:off x="457200" y="987552"/>
            <a:ext cx="3703320" cy="4864608"/>
          </a:xfrm>
          <a:prstGeom prst="roundRect">
            <a:avLst>
              <a:gd name="adj" fmla="val 1975"/>
            </a:avLst>
          </a:prstGeom>
          <a:solidFill>
            <a:srgbClr val="FFFFFF"/>
          </a:solidFill>
          <a:ln/>
        </p:spPr>
      </p:sp>
      <p:sp>
        <p:nvSpPr>
          <p:cNvPr id="6" name="Shape 4"/>
          <p:cNvSpPr/>
          <p:nvPr/>
        </p:nvSpPr>
        <p:spPr>
          <a:xfrm>
            <a:off x="457200" y="987552"/>
            <a:ext cx="3703320" cy="109728"/>
          </a:xfrm>
          <a:prstGeom prst="rect">
            <a:avLst/>
          </a:prstGeom>
          <a:solidFill>
            <a:srgbClr val="C98412"/>
          </a:solidFill>
          <a:ln/>
        </p:spPr>
      </p:sp>
      <p:sp>
        <p:nvSpPr>
          <p:cNvPr id="7" name="Text 5"/>
          <p:cNvSpPr/>
          <p:nvPr/>
        </p:nvSpPr>
        <p:spPr>
          <a:xfrm>
            <a:off x="658368" y="1243584"/>
            <a:ext cx="3291840" cy="237744"/>
          </a:xfrm>
          <a:prstGeom prst="rect">
            <a:avLst/>
          </a:prstGeom>
          <a:noFill/>
          <a:ln/>
        </p:spPr>
        <p:txBody>
          <a:bodyPr wrap="square" lIns="0" tIns="0" rIns="0" bIns="0" rtlCol="0" anchor="ctr"/>
          <a:lstStyle/>
          <a:p>
            <a:pPr indent="0" marL="0">
              <a:buNone/>
            </a:pPr>
            <a:r>
              <a:rPr lang="en-US" sz="1200" b="1" dirty="0">
                <a:solidFill>
                  <a:srgbClr val="1F7A72"/>
                </a:solidFill>
                <a:latin typeface="Calibri" pitchFamily="34" charset="0"/>
                <a:ea typeface="Calibri" pitchFamily="34" charset="-122"/>
                <a:cs typeface="Calibri" pitchFamily="34" charset="-120"/>
              </a:rPr>
              <a:t>YEAR 1   ·   2026–27</a:t>
            </a:r>
            <a:endParaRPr lang="en-US" sz="1200" dirty="0"/>
          </a:p>
        </p:txBody>
      </p:sp>
      <p:sp>
        <p:nvSpPr>
          <p:cNvPr id="8" name="Text 6"/>
          <p:cNvSpPr/>
          <p:nvPr/>
        </p:nvSpPr>
        <p:spPr>
          <a:xfrm>
            <a:off x="658368" y="1536192"/>
            <a:ext cx="3291840" cy="384048"/>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Build the baseline</a:t>
            </a:r>
            <a:endParaRPr lang="en-US" sz="1800" dirty="0"/>
          </a:p>
        </p:txBody>
      </p:sp>
      <p:sp>
        <p:nvSpPr>
          <p:cNvPr id="9" name="Text 7"/>
          <p:cNvSpPr/>
          <p:nvPr/>
        </p:nvSpPr>
        <p:spPr>
          <a:xfrm>
            <a:off x="658368" y="1993392"/>
            <a:ext cx="3291840" cy="2743200"/>
          </a:xfrm>
          <a:prstGeom prst="rect">
            <a:avLst/>
          </a:prstGeom>
          <a:noFill/>
          <a:ln/>
        </p:spPr>
        <p:txBody>
          <a:bodyPr wrap="square" lIns="0" tIns="0" rIns="0" bIns="0" rtlCol="0" anchor="t"/>
          <a:lstStyle/>
          <a:p>
            <a:pPr indent="0" marL="0">
              <a:buNone/>
            </a:pPr>
            <a:r>
              <a:rPr lang="en-US" sz="1300" dirty="0">
                <a:solidFill>
                  <a:srgbClr val="1B2A4A"/>
                </a:solidFill>
                <a:latin typeface="Calibri" pitchFamily="34" charset="0"/>
                <a:ea typeface="Calibri" pitchFamily="34" charset="-122"/>
                <a:cs typeface="Calibri" pitchFamily="34" charset="-120"/>
              </a:rPr>
              <a:t>Comparable baselines in every active district.</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SDG 4 page, monthly dashboard, correction log.</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9,000 more teachers + two-term follow-up.</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Termly parent messages begin.</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External assurance partner appointed.</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Reach target: 3 crore. Quality bar: 85% schools with a usable assessment.</a:t>
            </a:r>
            <a:endParaRPr lang="en-US" sz="1300" dirty="0"/>
          </a:p>
        </p:txBody>
      </p:sp>
      <p:sp>
        <p:nvSpPr>
          <p:cNvPr id="10" name="Shape 8"/>
          <p:cNvSpPr/>
          <p:nvPr/>
        </p:nvSpPr>
        <p:spPr>
          <a:xfrm>
            <a:off x="4297680" y="987552"/>
            <a:ext cx="3703320" cy="4864608"/>
          </a:xfrm>
          <a:prstGeom prst="roundRect">
            <a:avLst>
              <a:gd name="adj" fmla="val 1975"/>
            </a:avLst>
          </a:prstGeom>
          <a:solidFill>
            <a:srgbClr val="FFFFFF"/>
          </a:solidFill>
          <a:ln/>
        </p:spPr>
      </p:sp>
      <p:sp>
        <p:nvSpPr>
          <p:cNvPr id="11" name="Shape 9"/>
          <p:cNvSpPr/>
          <p:nvPr/>
        </p:nvSpPr>
        <p:spPr>
          <a:xfrm>
            <a:off x="4297680" y="987552"/>
            <a:ext cx="3703320" cy="109728"/>
          </a:xfrm>
          <a:prstGeom prst="rect">
            <a:avLst/>
          </a:prstGeom>
          <a:solidFill>
            <a:srgbClr val="1F7A72"/>
          </a:solidFill>
          <a:ln/>
        </p:spPr>
      </p:sp>
      <p:sp>
        <p:nvSpPr>
          <p:cNvPr id="12" name="Text 10"/>
          <p:cNvSpPr/>
          <p:nvPr/>
        </p:nvSpPr>
        <p:spPr>
          <a:xfrm>
            <a:off x="4498848" y="1243584"/>
            <a:ext cx="3291840" cy="237744"/>
          </a:xfrm>
          <a:prstGeom prst="rect">
            <a:avLst/>
          </a:prstGeom>
          <a:noFill/>
          <a:ln/>
        </p:spPr>
        <p:txBody>
          <a:bodyPr wrap="square" lIns="0" tIns="0" rIns="0" bIns="0" rtlCol="0" anchor="ctr"/>
          <a:lstStyle/>
          <a:p>
            <a:pPr indent="0" marL="0">
              <a:buNone/>
            </a:pPr>
            <a:r>
              <a:rPr lang="en-US" sz="1200" b="1" dirty="0">
                <a:solidFill>
                  <a:srgbClr val="1F7A72"/>
                </a:solidFill>
                <a:latin typeface="Calibri" pitchFamily="34" charset="0"/>
                <a:ea typeface="Calibri" pitchFamily="34" charset="-122"/>
                <a:cs typeface="Calibri" pitchFamily="34" charset="-120"/>
              </a:rPr>
              <a:t>YEAR 2   ·   2027–28</a:t>
            </a:r>
            <a:endParaRPr lang="en-US" sz="1200" dirty="0"/>
          </a:p>
        </p:txBody>
      </p:sp>
      <p:sp>
        <p:nvSpPr>
          <p:cNvPr id="13" name="Text 11"/>
          <p:cNvSpPr/>
          <p:nvPr/>
        </p:nvSpPr>
        <p:spPr>
          <a:xfrm>
            <a:off x="4498848" y="1536192"/>
            <a:ext cx="3291840" cy="384048"/>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Scale with evidence</a:t>
            </a:r>
            <a:endParaRPr lang="en-US" sz="1800" dirty="0"/>
          </a:p>
        </p:txBody>
      </p:sp>
      <p:sp>
        <p:nvSpPr>
          <p:cNvPr id="14" name="Text 12"/>
          <p:cNvSpPr/>
          <p:nvPr/>
        </p:nvSpPr>
        <p:spPr>
          <a:xfrm>
            <a:off x="4498848" y="1993392"/>
            <a:ext cx="3291840" cy="2743200"/>
          </a:xfrm>
          <a:prstGeom prst="rect">
            <a:avLst/>
          </a:prstGeom>
          <a:noFill/>
          <a:ln/>
        </p:spPr>
        <p:txBody>
          <a:bodyPr wrap="square" lIns="0" tIns="0" rIns="0" bIns="0" rtlCol="0" anchor="t"/>
          <a:lstStyle/>
          <a:p>
            <a:pPr indent="0" marL="0">
              <a:buNone/>
            </a:pPr>
            <a:r>
              <a:rPr lang="en-US" sz="1300" dirty="0">
                <a:solidFill>
                  <a:srgbClr val="1B2A4A"/>
                </a:solidFill>
                <a:latin typeface="Calibri" pitchFamily="34" charset="0"/>
                <a:ea typeface="Calibri" pitchFamily="34" charset="-122"/>
                <a:cs typeface="Calibri" pitchFamily="34" charset="-120"/>
              </a:rPr>
              <a:t>Reach about 6.5 crore learners.</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70% of new deployments in backward districts.</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Parent and teacher communication in 12 languages.</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District results published only where the sample is adequate.</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Class 9–10 skills modules (target 4.4).</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Yearly learning review with NGOs, teachers, states.</a:t>
            </a:r>
            <a:endParaRPr lang="en-US" sz="1300" dirty="0"/>
          </a:p>
        </p:txBody>
      </p:sp>
      <p:sp>
        <p:nvSpPr>
          <p:cNvPr id="15" name="Shape 13"/>
          <p:cNvSpPr/>
          <p:nvPr/>
        </p:nvSpPr>
        <p:spPr>
          <a:xfrm>
            <a:off x="8138160" y="987552"/>
            <a:ext cx="3703320" cy="4864608"/>
          </a:xfrm>
          <a:prstGeom prst="roundRect">
            <a:avLst>
              <a:gd name="adj" fmla="val 1975"/>
            </a:avLst>
          </a:prstGeom>
          <a:solidFill>
            <a:srgbClr val="FFFFFF"/>
          </a:solidFill>
          <a:ln/>
        </p:spPr>
      </p:sp>
      <p:sp>
        <p:nvSpPr>
          <p:cNvPr id="16" name="Shape 14"/>
          <p:cNvSpPr/>
          <p:nvPr/>
        </p:nvSpPr>
        <p:spPr>
          <a:xfrm>
            <a:off x="8138160" y="987552"/>
            <a:ext cx="3703320" cy="109728"/>
          </a:xfrm>
          <a:prstGeom prst="rect">
            <a:avLst/>
          </a:prstGeom>
          <a:solidFill>
            <a:srgbClr val="1F7A72"/>
          </a:solidFill>
          <a:ln/>
        </p:spPr>
      </p:sp>
      <p:sp>
        <p:nvSpPr>
          <p:cNvPr id="17" name="Text 15"/>
          <p:cNvSpPr/>
          <p:nvPr/>
        </p:nvSpPr>
        <p:spPr>
          <a:xfrm>
            <a:off x="8339328" y="1243584"/>
            <a:ext cx="3291840" cy="237744"/>
          </a:xfrm>
          <a:prstGeom prst="rect">
            <a:avLst/>
          </a:prstGeom>
          <a:noFill/>
          <a:ln/>
        </p:spPr>
        <p:txBody>
          <a:bodyPr wrap="square" lIns="0" tIns="0" rIns="0" bIns="0" rtlCol="0" anchor="ctr"/>
          <a:lstStyle/>
          <a:p>
            <a:pPr indent="0" marL="0">
              <a:buNone/>
            </a:pPr>
            <a:r>
              <a:rPr lang="en-US" sz="1200" b="1" dirty="0">
                <a:solidFill>
                  <a:srgbClr val="1F7A72"/>
                </a:solidFill>
                <a:latin typeface="Calibri" pitchFamily="34" charset="0"/>
                <a:ea typeface="Calibri" pitchFamily="34" charset="-122"/>
                <a:cs typeface="Calibri" pitchFamily="34" charset="-120"/>
              </a:rPr>
              <a:t>YEAR 3   ·   2028–29</a:t>
            </a:r>
            <a:endParaRPr lang="en-US" sz="1200" dirty="0"/>
          </a:p>
        </p:txBody>
      </p:sp>
      <p:sp>
        <p:nvSpPr>
          <p:cNvPr id="18" name="Text 16"/>
          <p:cNvSpPr/>
          <p:nvPr/>
        </p:nvSpPr>
        <p:spPr>
          <a:xfrm>
            <a:off x="8339328" y="1536192"/>
            <a:ext cx="3291840" cy="384048"/>
          </a:xfrm>
          <a:prstGeom prst="rect">
            <a:avLst/>
          </a:prstGeom>
          <a:noFill/>
          <a:ln/>
        </p:spPr>
        <p:txBody>
          <a:bodyPr wrap="square" lIns="0" tIns="0" rIns="0" bIns="0"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Independent review</a:t>
            </a:r>
            <a:endParaRPr lang="en-US" sz="1800" dirty="0"/>
          </a:p>
        </p:txBody>
      </p:sp>
      <p:sp>
        <p:nvSpPr>
          <p:cNvPr id="19" name="Text 17"/>
          <p:cNvSpPr/>
          <p:nvPr/>
        </p:nvSpPr>
        <p:spPr>
          <a:xfrm>
            <a:off x="8339328" y="1993392"/>
            <a:ext cx="3291840" cy="2743200"/>
          </a:xfrm>
          <a:prstGeom prst="rect">
            <a:avLst/>
          </a:prstGeom>
          <a:noFill/>
          <a:ln/>
        </p:spPr>
        <p:txBody>
          <a:bodyPr wrap="square" lIns="0" tIns="0" rIns="0" bIns="0" rtlCol="0" anchor="t"/>
          <a:lstStyle/>
          <a:p>
            <a:pPr indent="0" marL="0">
              <a:buNone/>
            </a:pPr>
            <a:r>
              <a:rPr lang="en-US" sz="1300" dirty="0">
                <a:solidFill>
                  <a:srgbClr val="1B2A4A"/>
                </a:solidFill>
                <a:latin typeface="Calibri" pitchFamily="34" charset="0"/>
                <a:ea typeface="Calibri" pitchFamily="34" charset="-122"/>
                <a:cs typeface="Calibri" pitchFamily="34" charset="-120"/>
              </a:rPr>
              <a:t>Multi-state evaluation, method and limits public.</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Move toward 11 crore without dropping quality thresholds.</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District teacher circles — voluntary, never used for ranking.</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Audio, captions, screen-reader, printable accessible material.</a:t>
            </a:r>
            <a:endParaRPr lang="en-US" sz="1300" dirty="0"/>
          </a:p>
          <a:p>
            <a:pPr indent="0" marL="0">
              <a:buNone/>
            </a:pPr>
            <a:r>
              <a:rPr lang="en-US" sz="1300" dirty="0">
                <a:solidFill>
                  <a:srgbClr val="1B2A4A"/>
                </a:solidFill>
                <a:latin typeface="Calibri" pitchFamily="34" charset="0"/>
                <a:ea typeface="Calibri" pitchFamily="34" charset="-122"/>
                <a:cs typeface="Calibri" pitchFamily="34" charset="-120"/>
              </a:rPr>
              <a:t>Selected foundational resources released under an open licence.</a:t>
            </a:r>
            <a:endParaRPr lang="en-US" sz="1300" dirty="0"/>
          </a:p>
        </p:txBody>
      </p:sp>
      <p:sp>
        <p:nvSpPr>
          <p:cNvPr id="20" name="Shape 18"/>
          <p:cNvSpPr/>
          <p:nvPr/>
        </p:nvSpPr>
        <p:spPr>
          <a:xfrm>
            <a:off x="457200" y="5925312"/>
            <a:ext cx="11247120" cy="475488"/>
          </a:xfrm>
          <a:prstGeom prst="roundRect">
            <a:avLst>
              <a:gd name="adj" fmla="val 11538"/>
            </a:avLst>
          </a:prstGeom>
          <a:solidFill>
            <a:srgbClr val="1B2A4A"/>
          </a:solidFill>
          <a:ln/>
        </p:spPr>
      </p:sp>
      <p:sp>
        <p:nvSpPr>
          <p:cNvPr id="21" name="Text 19"/>
          <p:cNvSpPr/>
          <p:nvPr/>
        </p:nvSpPr>
        <p:spPr>
          <a:xfrm>
            <a:off x="640080" y="5925312"/>
            <a:ext cx="1092708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Rule across all three years: no target is treated as achieved because registrations rose. Reach is always shown next to assessment completion, learning gain, gender split and teacher support.</a:t>
            </a:r>
            <a:endParaRPr lang="en-US" sz="1300" dirty="0"/>
          </a:p>
        </p:txBody>
      </p:sp>
      <p:sp>
        <p:nvSpPr>
          <p:cNvPr id="22" name="Text 20"/>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23" name="Text 21"/>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F7A72"/>
          </a:solidFill>
          <a:ln/>
        </p:spPr>
      </p:sp>
      <p:sp>
        <p:nvSpPr>
          <p:cNvPr id="3" name="Text 1"/>
          <p:cNvSpPr/>
          <p:nvPr/>
        </p:nvSpPr>
        <p:spPr>
          <a:xfrm>
            <a:off x="457200" y="201168"/>
            <a:ext cx="7315200" cy="219456"/>
          </a:xfrm>
          <a:prstGeom prst="rect">
            <a:avLst/>
          </a:prstGeom>
          <a:noFill/>
          <a:ln/>
        </p:spPr>
        <p:txBody>
          <a:bodyPr wrap="square" lIns="0" tIns="0" rIns="0" bIns="0" rtlCol="0" anchor="ctr"/>
          <a:lstStyle/>
          <a:p>
            <a:pPr indent="0" marL="0">
              <a:buNone/>
            </a:pPr>
            <a:r>
              <a:rPr lang="en-US" sz="1100" b="1" spc="140" kern="0" dirty="0">
                <a:solidFill>
                  <a:srgbClr val="1F7A72"/>
                </a:solidFill>
                <a:latin typeface="Calibri" pitchFamily="34" charset="0"/>
                <a:ea typeface="Calibri" pitchFamily="34" charset="-122"/>
                <a:cs typeface="Calibri" pitchFamily="34" charset="-120"/>
              </a:rPr>
              <a:t>THE FEATURE MARKETING WOULD CUT FIRST IS THE ONE THAT MAKES THE REST BELIEVABLE</a:t>
            </a:r>
            <a:endParaRPr lang="en-US" sz="1100" dirty="0"/>
          </a:p>
        </p:txBody>
      </p:sp>
      <p:sp>
        <p:nvSpPr>
          <p:cNvPr id="4" name="Text 2"/>
          <p:cNvSpPr/>
          <p:nvPr/>
        </p:nvSpPr>
        <p:spPr>
          <a:xfrm>
            <a:off x="457200" y="438912"/>
            <a:ext cx="11247120" cy="365760"/>
          </a:xfrm>
          <a:prstGeom prst="rect">
            <a:avLst/>
          </a:prstGeom>
          <a:noFill/>
          <a:ln/>
        </p:spPr>
        <p:txBody>
          <a:bodyPr wrap="square" lIns="0" tIns="0" rIns="0" bIns="0" rtlCol="0" anchor="ctr"/>
          <a:lstStyle/>
          <a:p>
            <a:pPr indent="0" marL="0">
              <a:buNone/>
            </a:pPr>
            <a:r>
              <a:rPr lang="en-US" sz="2600" dirty="0">
                <a:solidFill>
                  <a:srgbClr val="1B2A4A"/>
                </a:solidFill>
                <a:latin typeface="Georgia" pitchFamily="34" charset="0"/>
                <a:ea typeface="Georgia" pitchFamily="34" charset="-122"/>
                <a:cs typeface="Georgia" pitchFamily="34" charset="-120"/>
              </a:rPr>
              <a:t>How the claim is kept honest</a:t>
            </a:r>
            <a:endParaRPr lang="en-US" sz="2600" dirty="0"/>
          </a:p>
        </p:txBody>
      </p:sp>
      <p:sp>
        <p:nvSpPr>
          <p:cNvPr id="5" name="Shape 3"/>
          <p:cNvSpPr/>
          <p:nvPr/>
        </p:nvSpPr>
        <p:spPr>
          <a:xfrm>
            <a:off x="457200" y="987552"/>
            <a:ext cx="5623560" cy="1280160"/>
          </a:xfrm>
          <a:prstGeom prst="roundRect">
            <a:avLst>
              <a:gd name="adj" fmla="val 5714"/>
            </a:avLst>
          </a:prstGeom>
          <a:solidFill>
            <a:srgbClr val="FFFFFF"/>
          </a:solidFill>
          <a:ln/>
        </p:spPr>
      </p:sp>
      <p:sp>
        <p:nvSpPr>
          <p:cNvPr id="6" name="Text 4"/>
          <p:cNvSpPr/>
          <p:nvPr/>
        </p:nvSpPr>
        <p:spPr>
          <a:xfrm>
            <a:off x="676656" y="1133856"/>
            <a:ext cx="5212080" cy="27432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Verification gate</a:t>
            </a:r>
            <a:endParaRPr lang="en-US" sz="1600" dirty="0"/>
          </a:p>
        </p:txBody>
      </p:sp>
      <p:sp>
        <p:nvSpPr>
          <p:cNvPr id="7" name="Text 5"/>
          <p:cNvSpPr/>
          <p:nvPr/>
        </p:nvSpPr>
        <p:spPr>
          <a:xfrm>
            <a:off x="676656" y="1444752"/>
            <a:ext cx="5212080" cy="676656"/>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No impact claim leaves the firm without Academic Council sign-off. Annual claims also need an external assurance letter, published in full.</a:t>
            </a:r>
            <a:endParaRPr lang="en-US" sz="1300" dirty="0"/>
          </a:p>
        </p:txBody>
      </p:sp>
      <p:sp>
        <p:nvSpPr>
          <p:cNvPr id="8" name="Shape 6"/>
          <p:cNvSpPr/>
          <p:nvPr/>
        </p:nvSpPr>
        <p:spPr>
          <a:xfrm>
            <a:off x="6309360" y="987552"/>
            <a:ext cx="5623560" cy="1280160"/>
          </a:xfrm>
          <a:prstGeom prst="roundRect">
            <a:avLst>
              <a:gd name="adj" fmla="val 5714"/>
            </a:avLst>
          </a:prstGeom>
          <a:solidFill>
            <a:srgbClr val="FFFFFF"/>
          </a:solidFill>
          <a:ln/>
        </p:spPr>
      </p:sp>
      <p:sp>
        <p:nvSpPr>
          <p:cNvPr id="9" name="Text 7"/>
          <p:cNvSpPr/>
          <p:nvPr/>
        </p:nvSpPr>
        <p:spPr>
          <a:xfrm>
            <a:off x="6528816" y="1133856"/>
            <a:ext cx="5212080" cy="27432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Same-day rule</a:t>
            </a:r>
            <a:endParaRPr lang="en-US" sz="1600" dirty="0"/>
          </a:p>
        </p:txBody>
      </p:sp>
      <p:sp>
        <p:nvSpPr>
          <p:cNvPr id="10" name="Text 8"/>
          <p:cNvSpPr/>
          <p:nvPr/>
        </p:nvSpPr>
        <p:spPr>
          <a:xfrm>
            <a:off x="6528816" y="1444752"/>
            <a:ext cx="5212080" cy="676656"/>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Any figure shared with a state department appears on the public dashboard the same day. Two sets of books cannot form.</a:t>
            </a:r>
            <a:endParaRPr lang="en-US" sz="1300" dirty="0"/>
          </a:p>
        </p:txBody>
      </p:sp>
      <p:sp>
        <p:nvSpPr>
          <p:cNvPr id="11" name="Shape 9"/>
          <p:cNvSpPr/>
          <p:nvPr/>
        </p:nvSpPr>
        <p:spPr>
          <a:xfrm>
            <a:off x="457200" y="2404872"/>
            <a:ext cx="5623560" cy="1280160"/>
          </a:xfrm>
          <a:prstGeom prst="roundRect">
            <a:avLst>
              <a:gd name="adj" fmla="val 5714"/>
            </a:avLst>
          </a:prstGeom>
          <a:solidFill>
            <a:srgbClr val="FFFFFF"/>
          </a:solidFill>
          <a:ln/>
        </p:spPr>
      </p:sp>
      <p:sp>
        <p:nvSpPr>
          <p:cNvPr id="12" name="Text 10"/>
          <p:cNvSpPr/>
          <p:nvPr/>
        </p:nvSpPr>
        <p:spPr>
          <a:xfrm>
            <a:off x="676656" y="2551176"/>
            <a:ext cx="5212080" cy="27432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March scorecard</a:t>
            </a:r>
            <a:endParaRPr lang="en-US" sz="1600" dirty="0"/>
          </a:p>
        </p:txBody>
      </p:sp>
      <p:sp>
        <p:nvSpPr>
          <p:cNvPr id="13" name="Text 11"/>
          <p:cNvSpPr/>
          <p:nvPr/>
        </p:nvSpPr>
        <p:spPr>
          <a:xfrm>
            <a:off x="676656" y="2862072"/>
            <a:ext cx="5212080" cy="676656"/>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Missed communication and impact targets are listed in the same document as the ones that were met.</a:t>
            </a:r>
            <a:endParaRPr lang="en-US" sz="1300" dirty="0"/>
          </a:p>
        </p:txBody>
      </p:sp>
      <p:sp>
        <p:nvSpPr>
          <p:cNvPr id="14" name="Shape 12"/>
          <p:cNvSpPr/>
          <p:nvPr/>
        </p:nvSpPr>
        <p:spPr>
          <a:xfrm>
            <a:off x="6309360" y="2404872"/>
            <a:ext cx="5623560" cy="1280160"/>
          </a:xfrm>
          <a:prstGeom prst="roundRect">
            <a:avLst>
              <a:gd name="adj" fmla="val 5714"/>
            </a:avLst>
          </a:prstGeom>
          <a:solidFill>
            <a:srgbClr val="FFFFFF"/>
          </a:solidFill>
          <a:ln/>
        </p:spPr>
      </p:sp>
      <p:sp>
        <p:nvSpPr>
          <p:cNvPr id="15" name="Text 13"/>
          <p:cNvSpPr/>
          <p:nvPr/>
        </p:nvSpPr>
        <p:spPr>
          <a:xfrm>
            <a:off x="6528816" y="2551176"/>
            <a:ext cx="5212080" cy="27432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Board line</a:t>
            </a:r>
            <a:endParaRPr lang="en-US" sz="1600" dirty="0"/>
          </a:p>
        </p:txBody>
      </p:sp>
      <p:sp>
        <p:nvSpPr>
          <p:cNvPr id="16" name="Text 14"/>
          <p:cNvSpPr/>
          <p:nvPr/>
        </p:nvSpPr>
        <p:spPr>
          <a:xfrm>
            <a:off x="6528816" y="2862072"/>
            <a:ext cx="5212080" cy="676656"/>
          </a:xfrm>
          <a:prstGeom prst="rect">
            <a:avLst/>
          </a:prstGeom>
          <a:noFill/>
          <a:ln/>
        </p:spPr>
        <p:txBody>
          <a:bodyPr wrap="square" lIns="0" tIns="0" rIns="0" bIns="0" rtlCol="0" anchor="ctr"/>
          <a:lstStyle/>
          <a:p>
            <a:pPr indent="0" marL="0">
              <a:buNone/>
            </a:pPr>
            <a:r>
              <a:rPr lang="en-US" sz="1300" dirty="0">
                <a:solidFill>
                  <a:srgbClr val="5B6A7A"/>
                </a:solidFill>
                <a:latin typeface="Calibri" pitchFamily="34" charset="0"/>
                <a:ea typeface="Calibri" pitchFamily="34" charset="-122"/>
                <a:cs typeface="Calibri" pitchFamily="34" charset="-120"/>
              </a:rPr>
              <a:t>Corporate Communication reports to the MD and, for every SDG disclosure, to the Board ESG and Impact Committee.</a:t>
            </a:r>
            <a:endParaRPr lang="en-US" sz="1300" dirty="0"/>
          </a:p>
        </p:txBody>
      </p:sp>
      <p:sp>
        <p:nvSpPr>
          <p:cNvPr id="17" name="Text 15"/>
          <p:cNvSpPr/>
          <p:nvPr/>
        </p:nvSpPr>
        <p:spPr>
          <a:xfrm>
            <a:off x="457200" y="3950208"/>
            <a:ext cx="11247120" cy="256032"/>
          </a:xfrm>
          <a:prstGeom prst="rect">
            <a:avLst/>
          </a:prstGeom>
          <a:noFill/>
          <a:ln/>
        </p:spPr>
        <p:txBody>
          <a:bodyPr wrap="square" lIns="0" tIns="0" rIns="0" bIns="0" rtlCol="0" anchor="ctr"/>
          <a:lstStyle/>
          <a:p>
            <a:pPr indent="0" marL="0">
              <a:buNone/>
            </a:pPr>
            <a:r>
              <a:rPr lang="en-US" sz="1400" b="1" dirty="0">
                <a:solidFill>
                  <a:srgbClr val="1F7A72"/>
                </a:solidFill>
                <a:latin typeface="Calibri" pitchFamily="34" charset="0"/>
                <a:ea typeface="Calibri" pitchFamily="34" charset="-122"/>
                <a:cs typeface="Calibri" pitchFamily="34" charset="-120"/>
              </a:rPr>
              <a:t>If it works, we will see this  ·  2026–27</a:t>
            </a:r>
            <a:endParaRPr lang="en-US" sz="1400" dirty="0"/>
          </a:p>
        </p:txBody>
      </p:sp>
      <p:sp>
        <p:nvSpPr>
          <p:cNvPr id="18" name="Shape 16"/>
          <p:cNvSpPr/>
          <p:nvPr/>
        </p:nvSpPr>
        <p:spPr>
          <a:xfrm>
            <a:off x="457200" y="4279392"/>
            <a:ext cx="2788920" cy="1572768"/>
          </a:xfrm>
          <a:prstGeom prst="roundRect">
            <a:avLst>
              <a:gd name="adj" fmla="val 4651"/>
            </a:avLst>
          </a:prstGeom>
          <a:solidFill>
            <a:srgbClr val="1B2A4A"/>
          </a:solidFill>
          <a:ln/>
        </p:spPr>
      </p:sp>
      <p:sp>
        <p:nvSpPr>
          <p:cNvPr id="19" name="Text 17"/>
          <p:cNvSpPr/>
          <p:nvPr/>
        </p:nvSpPr>
        <p:spPr>
          <a:xfrm>
            <a:off x="566928" y="4443984"/>
            <a:ext cx="2569464" cy="502920"/>
          </a:xfrm>
          <a:prstGeom prst="rect">
            <a:avLst/>
          </a:prstGeom>
          <a:noFill/>
          <a:ln/>
        </p:spPr>
        <p:txBody>
          <a:bodyPr wrap="square" lIns="0" tIns="0" rIns="0" bIns="0" rtlCol="0" anchor="ctr"/>
          <a:lstStyle/>
          <a:p>
            <a:pPr algn="ctr" indent="0" marL="0">
              <a:buNone/>
            </a:pPr>
            <a:r>
              <a:rPr lang="en-US" sz="2400" dirty="0">
                <a:solidFill>
                  <a:srgbClr val="E8A317"/>
                </a:solidFill>
                <a:latin typeface="Georgia" pitchFamily="34" charset="0"/>
                <a:ea typeface="Georgia" pitchFamily="34" charset="-122"/>
                <a:cs typeface="Georgia" pitchFamily="34" charset="-120"/>
              </a:rPr>
              <a:t>12%</a:t>
            </a:r>
            <a:endParaRPr lang="en-US" sz="2400" dirty="0"/>
          </a:p>
        </p:txBody>
      </p:sp>
      <p:sp>
        <p:nvSpPr>
          <p:cNvPr id="20" name="Text 18"/>
          <p:cNvSpPr/>
          <p:nvPr/>
        </p:nvSpPr>
        <p:spPr>
          <a:xfrm>
            <a:off x="621792" y="5010912"/>
            <a:ext cx="246888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of site sessions reach the SDG 4 page</a:t>
            </a:r>
            <a:endParaRPr lang="en-US" sz="1300" dirty="0"/>
          </a:p>
        </p:txBody>
      </p:sp>
      <p:sp>
        <p:nvSpPr>
          <p:cNvPr id="21" name="Shape 19"/>
          <p:cNvSpPr/>
          <p:nvPr/>
        </p:nvSpPr>
        <p:spPr>
          <a:xfrm>
            <a:off x="3383280" y="4279392"/>
            <a:ext cx="2788920" cy="1572768"/>
          </a:xfrm>
          <a:prstGeom prst="roundRect">
            <a:avLst>
              <a:gd name="adj" fmla="val 4651"/>
            </a:avLst>
          </a:prstGeom>
          <a:solidFill>
            <a:srgbClr val="1B2A4A"/>
          </a:solidFill>
          <a:ln/>
        </p:spPr>
      </p:sp>
      <p:sp>
        <p:nvSpPr>
          <p:cNvPr id="22" name="Text 20"/>
          <p:cNvSpPr/>
          <p:nvPr/>
        </p:nvSpPr>
        <p:spPr>
          <a:xfrm>
            <a:off x="3493008" y="4443984"/>
            <a:ext cx="2569464" cy="502920"/>
          </a:xfrm>
          <a:prstGeom prst="rect">
            <a:avLst/>
          </a:prstGeom>
          <a:noFill/>
          <a:ln/>
        </p:spPr>
        <p:txBody>
          <a:bodyPr wrap="square" lIns="0" tIns="0" rIns="0" bIns="0" rtlCol="0" anchor="ctr"/>
          <a:lstStyle/>
          <a:p>
            <a:pPr algn="ctr" indent="0" marL="0">
              <a:buNone/>
            </a:pPr>
            <a:r>
              <a:rPr lang="en-US" sz="2400" dirty="0">
                <a:solidFill>
                  <a:srgbClr val="E8A317"/>
                </a:solidFill>
                <a:latin typeface="Georgia" pitchFamily="34" charset="0"/>
                <a:ea typeface="Georgia" pitchFamily="34" charset="-122"/>
                <a:cs typeface="Georgia" pitchFamily="34" charset="-120"/>
              </a:rPr>
              <a:t>40 lakh</a:t>
            </a:r>
            <a:endParaRPr lang="en-US" sz="2400" dirty="0"/>
          </a:p>
        </p:txBody>
      </p:sp>
      <p:sp>
        <p:nvSpPr>
          <p:cNvPr id="23" name="Text 21"/>
          <p:cNvSpPr/>
          <p:nvPr/>
        </p:nvSpPr>
        <p:spPr>
          <a:xfrm>
            <a:off x="3547872" y="5010912"/>
            <a:ext cx="246888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parents get a termly progress message</a:t>
            </a:r>
            <a:endParaRPr lang="en-US" sz="1300" dirty="0"/>
          </a:p>
        </p:txBody>
      </p:sp>
      <p:sp>
        <p:nvSpPr>
          <p:cNvPr id="24" name="Shape 22"/>
          <p:cNvSpPr/>
          <p:nvPr/>
        </p:nvSpPr>
        <p:spPr>
          <a:xfrm>
            <a:off x="6309360" y="4279392"/>
            <a:ext cx="2788920" cy="1572768"/>
          </a:xfrm>
          <a:prstGeom prst="roundRect">
            <a:avLst>
              <a:gd name="adj" fmla="val 4651"/>
            </a:avLst>
          </a:prstGeom>
          <a:solidFill>
            <a:srgbClr val="1B2A4A"/>
          </a:solidFill>
          <a:ln/>
        </p:spPr>
      </p:sp>
      <p:sp>
        <p:nvSpPr>
          <p:cNvPr id="25" name="Text 23"/>
          <p:cNvSpPr/>
          <p:nvPr/>
        </p:nvSpPr>
        <p:spPr>
          <a:xfrm>
            <a:off x="6419088" y="4443984"/>
            <a:ext cx="2569464" cy="502920"/>
          </a:xfrm>
          <a:prstGeom prst="rect">
            <a:avLst/>
          </a:prstGeom>
          <a:noFill/>
          <a:ln/>
        </p:spPr>
        <p:txBody>
          <a:bodyPr wrap="square" lIns="0" tIns="0" rIns="0" bIns="0" rtlCol="0" anchor="ctr"/>
          <a:lstStyle/>
          <a:p>
            <a:pPr algn="ctr" indent="0" marL="0">
              <a:buNone/>
            </a:pPr>
            <a:r>
              <a:rPr lang="en-US" sz="2400" dirty="0">
                <a:solidFill>
                  <a:srgbClr val="E8A317"/>
                </a:solidFill>
                <a:latin typeface="Georgia" pitchFamily="34" charset="0"/>
                <a:ea typeface="Georgia" pitchFamily="34" charset="-122"/>
                <a:cs typeface="Georgia" pitchFamily="34" charset="-120"/>
              </a:rPr>
              <a:t>85%</a:t>
            </a:r>
            <a:endParaRPr lang="en-US" sz="2400" dirty="0"/>
          </a:p>
        </p:txBody>
      </p:sp>
      <p:sp>
        <p:nvSpPr>
          <p:cNvPr id="26" name="Text 24"/>
          <p:cNvSpPr/>
          <p:nvPr/>
        </p:nvSpPr>
        <p:spPr>
          <a:xfrm>
            <a:off x="6473952" y="5010912"/>
            <a:ext cx="246888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of employees can name 3 of 4 pledges</a:t>
            </a:r>
            <a:endParaRPr lang="en-US" sz="1300" dirty="0"/>
          </a:p>
        </p:txBody>
      </p:sp>
      <p:sp>
        <p:nvSpPr>
          <p:cNvPr id="27" name="Shape 25"/>
          <p:cNvSpPr/>
          <p:nvPr/>
        </p:nvSpPr>
        <p:spPr>
          <a:xfrm>
            <a:off x="9235440" y="4279392"/>
            <a:ext cx="2788920" cy="1572768"/>
          </a:xfrm>
          <a:prstGeom prst="roundRect">
            <a:avLst>
              <a:gd name="adj" fmla="val 4651"/>
            </a:avLst>
          </a:prstGeom>
          <a:solidFill>
            <a:srgbClr val="1B2A4A"/>
          </a:solidFill>
          <a:ln/>
        </p:spPr>
      </p:sp>
      <p:sp>
        <p:nvSpPr>
          <p:cNvPr id="28" name="Text 26"/>
          <p:cNvSpPr/>
          <p:nvPr/>
        </p:nvSpPr>
        <p:spPr>
          <a:xfrm>
            <a:off x="9345168" y="4443984"/>
            <a:ext cx="2569464" cy="502920"/>
          </a:xfrm>
          <a:prstGeom prst="rect">
            <a:avLst/>
          </a:prstGeom>
          <a:noFill/>
          <a:ln/>
        </p:spPr>
        <p:txBody>
          <a:bodyPr wrap="square" lIns="0" tIns="0" rIns="0" bIns="0" rtlCol="0" anchor="ctr"/>
          <a:lstStyle/>
          <a:p>
            <a:pPr algn="ctr" indent="0" marL="0">
              <a:buNone/>
            </a:pPr>
            <a:r>
              <a:rPr lang="en-US" sz="2400" dirty="0">
                <a:solidFill>
                  <a:srgbClr val="E8A317"/>
                </a:solidFill>
                <a:latin typeface="Georgia" pitchFamily="34" charset="0"/>
                <a:ea typeface="Georgia" pitchFamily="34" charset="-122"/>
                <a:cs typeface="Georgia" pitchFamily="34" charset="-120"/>
              </a:rPr>
              <a:t>Zero</a:t>
            </a:r>
            <a:endParaRPr lang="en-US" sz="2400" dirty="0"/>
          </a:p>
        </p:txBody>
      </p:sp>
      <p:sp>
        <p:nvSpPr>
          <p:cNvPr id="29" name="Text 27"/>
          <p:cNvSpPr/>
          <p:nvPr/>
        </p:nvSpPr>
        <p:spPr>
          <a:xfrm>
            <a:off x="9400032" y="5010912"/>
            <a:ext cx="2468880" cy="64008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upheld complaints on impact claims</a:t>
            </a:r>
            <a:endParaRPr lang="en-US" sz="1300" dirty="0"/>
          </a:p>
        </p:txBody>
      </p:sp>
      <p:sp>
        <p:nvSpPr>
          <p:cNvPr id="30" name="Text 28"/>
          <p:cNvSpPr/>
          <p:nvPr/>
        </p:nvSpPr>
        <p:spPr>
          <a:xfrm>
            <a:off x="502920" y="6565392"/>
            <a:ext cx="7498080" cy="201168"/>
          </a:xfrm>
          <a:prstGeom prst="rect">
            <a:avLst/>
          </a:prstGeom>
          <a:noFill/>
          <a:ln/>
        </p:spPr>
        <p:txBody>
          <a:bodyPr wrap="square" lIns="0" tIns="0" rIns="0" bIns="0" rtlCol="0" anchor="ctr"/>
          <a:lstStyle/>
          <a:p>
            <a:pPr indent="0" marL="0">
              <a:buNone/>
            </a:pPr>
            <a:r>
              <a:rPr lang="en-US" sz="1100" dirty="0">
                <a:solidFill>
                  <a:srgbClr val="5B6A7A"/>
                </a:solidFill>
                <a:latin typeface="Calibri" pitchFamily="34" charset="0"/>
                <a:ea typeface="Calibri" pitchFamily="34" charset="-122"/>
                <a:cs typeface="Calibri" pitchFamily="34" charset="-120"/>
              </a:rPr>
              <a:t>IIM Rohtak  ·  WAC Term I  ·  Section B Group 8</a:t>
            </a:r>
            <a:endParaRPr lang="en-US" sz="1100" dirty="0"/>
          </a:p>
        </p:txBody>
      </p:sp>
      <p:sp>
        <p:nvSpPr>
          <p:cNvPr id="31" name="Text 29"/>
          <p:cNvSpPr/>
          <p:nvPr/>
        </p:nvSpPr>
        <p:spPr>
          <a:xfrm>
            <a:off x="10332720" y="6565392"/>
            <a:ext cx="1371600" cy="201168"/>
          </a:xfrm>
          <a:prstGeom prst="rect">
            <a:avLst/>
          </a:prstGeom>
          <a:noFill/>
          <a:ln/>
        </p:spPr>
        <p:txBody>
          <a:bodyPr wrap="square" lIns="0" tIns="0" rIns="0" bIns="0" rtlCol="0" anchor="ctr"/>
          <a:lstStyle/>
          <a:p>
            <a:pPr algn="r" indent="0" marL="0">
              <a:buNone/>
            </a:pPr>
            <a:r>
              <a:rPr lang="en-US" sz="1100" dirty="0">
                <a:solidFill>
                  <a:srgbClr val="5B6A7A"/>
                </a:solidFill>
                <a:latin typeface="Calibri" pitchFamily="34" charset="0"/>
                <a:ea typeface="Calibri" pitchFamily="34" charset="-122"/>
                <a:cs typeface="Calibri"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A317"/>
          </a:solidFill>
          <a:ln/>
        </p:spPr>
      </p:sp>
      <p:sp>
        <p:nvSpPr>
          <p:cNvPr id="3" name="Shape 1"/>
          <p:cNvSpPr/>
          <p:nvPr/>
        </p:nvSpPr>
        <p:spPr>
          <a:xfrm>
            <a:off x="164592" y="0"/>
            <a:ext cx="73152" cy="6858000"/>
          </a:xfrm>
          <a:prstGeom prst="rect">
            <a:avLst/>
          </a:prstGeom>
          <a:solidFill>
            <a:srgbClr val="1F7A72"/>
          </a:solidFill>
          <a:ln/>
        </p:spPr>
      </p:sp>
      <p:sp>
        <p:nvSpPr>
          <p:cNvPr id="4" name="Text 2"/>
          <p:cNvSpPr/>
          <p:nvPr/>
        </p:nvSpPr>
        <p:spPr>
          <a:xfrm>
            <a:off x="640080" y="347472"/>
            <a:ext cx="10972800" cy="256032"/>
          </a:xfrm>
          <a:prstGeom prst="rect">
            <a:avLst/>
          </a:prstGeom>
          <a:noFill/>
          <a:ln/>
        </p:spPr>
        <p:txBody>
          <a:bodyPr wrap="square" lIns="0" tIns="0" rIns="0" bIns="0" rtlCol="0" anchor="ctr"/>
          <a:lstStyle/>
          <a:p>
            <a:pPr indent="0" marL="0">
              <a:buNone/>
            </a:pPr>
            <a:r>
              <a:rPr lang="en-US" sz="1300" b="1" spc="120" kern="0" dirty="0">
                <a:solidFill>
                  <a:srgbClr val="E8A317"/>
                </a:solidFill>
                <a:latin typeface="Calibri" pitchFamily="34" charset="0"/>
                <a:ea typeface="Calibri" pitchFamily="34" charset="-122"/>
                <a:cs typeface="Calibri" pitchFamily="34" charset="-120"/>
              </a:rPr>
              <a:t>If only one thing is adopted</a:t>
            </a:r>
            <a:endParaRPr lang="en-US" sz="1300" dirty="0"/>
          </a:p>
        </p:txBody>
      </p:sp>
      <p:sp>
        <p:nvSpPr>
          <p:cNvPr id="5" name="Text 3"/>
          <p:cNvSpPr/>
          <p:nvPr/>
        </p:nvSpPr>
        <p:spPr>
          <a:xfrm>
            <a:off x="640080" y="658368"/>
            <a:ext cx="10972800" cy="1417320"/>
          </a:xfrm>
          <a:prstGeom prst="rect">
            <a:avLst/>
          </a:prstGeom>
          <a:noFill/>
          <a:ln/>
        </p:spPr>
        <p:txBody>
          <a:bodyPr wrap="square" lIns="0" tIns="0" rIns="0" bIns="0" rtlCol="0" anchor="ctr"/>
          <a:lstStyle/>
          <a:p>
            <a:pPr indent="0" marL="0">
              <a:buNone/>
            </a:pPr>
            <a:r>
              <a:rPr lang="en-US" sz="2800" dirty="0">
                <a:solidFill>
                  <a:srgbClr val="FFFFFF"/>
                </a:solidFill>
                <a:latin typeface="Georgia" pitchFamily="34" charset="0"/>
                <a:ea typeface="Georgia" pitchFamily="34" charset="-122"/>
                <a:cs typeface="Georgia" pitchFamily="34" charset="-120"/>
              </a:rPr>
              <a:t>Publish the learning number</a:t>
            </a:r>
            <a:endParaRPr lang="en-US" sz="2800" dirty="0"/>
          </a:p>
          <a:p>
            <a:pPr indent="0" marL="0">
              <a:buNone/>
            </a:pPr>
            <a:r>
              <a:rPr lang="en-US" sz="2800" dirty="0">
                <a:solidFill>
                  <a:srgbClr val="FFFFFF"/>
                </a:solidFill>
                <a:latin typeface="Georgia" pitchFamily="34" charset="0"/>
                <a:ea typeface="Georgia" pitchFamily="34" charset="-122"/>
                <a:cs typeface="Georgia" pitchFamily="34" charset="-120"/>
              </a:rPr>
              <a:t>every June, including the years</a:t>
            </a:r>
            <a:endParaRPr lang="en-US" sz="2800" dirty="0"/>
          </a:p>
          <a:p>
            <a:pPr indent="0" marL="0">
              <a:buNone/>
            </a:pPr>
            <a:r>
              <a:rPr lang="en-US" sz="2800" dirty="0">
                <a:solidFill>
                  <a:srgbClr val="FFFFFF"/>
                </a:solidFill>
                <a:latin typeface="Georgia" pitchFamily="34" charset="0"/>
                <a:ea typeface="Georgia" pitchFamily="34" charset="-122"/>
                <a:cs typeface="Georgia" pitchFamily="34" charset="-120"/>
              </a:rPr>
              <a:t>it goes down.</a:t>
            </a:r>
            <a:endParaRPr lang="en-US" sz="2800" dirty="0"/>
          </a:p>
        </p:txBody>
      </p:sp>
      <p:sp>
        <p:nvSpPr>
          <p:cNvPr id="6" name="Text 4"/>
          <p:cNvSpPr/>
          <p:nvPr/>
        </p:nvSpPr>
        <p:spPr>
          <a:xfrm>
            <a:off x="640080" y="2212848"/>
            <a:ext cx="502920" cy="384048"/>
          </a:xfrm>
          <a:prstGeom prst="rect">
            <a:avLst/>
          </a:prstGeom>
          <a:noFill/>
          <a:ln/>
        </p:spPr>
        <p:txBody>
          <a:bodyPr wrap="square" lIns="0" tIns="0" rIns="0" bIns="0" rtlCol="0" anchor="ctr"/>
          <a:lstStyle/>
          <a:p>
            <a:pPr indent="0" marL="0">
              <a:buNone/>
            </a:pPr>
            <a:r>
              <a:rPr lang="en-US" sz="1400" b="1" dirty="0">
                <a:solidFill>
                  <a:srgbClr val="E8A317"/>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234440" y="2212848"/>
            <a:ext cx="10241280" cy="38404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Name only the four targets the business affects.</a:t>
            </a:r>
            <a:endParaRPr lang="en-US" sz="1600" dirty="0"/>
          </a:p>
        </p:txBody>
      </p:sp>
      <p:sp>
        <p:nvSpPr>
          <p:cNvPr id="8" name="Text 6"/>
          <p:cNvSpPr/>
          <p:nvPr/>
        </p:nvSpPr>
        <p:spPr>
          <a:xfrm>
            <a:off x="640080" y="2688336"/>
            <a:ext cx="502920" cy="384048"/>
          </a:xfrm>
          <a:prstGeom prst="rect">
            <a:avLst/>
          </a:prstGeom>
          <a:noFill/>
          <a:ln/>
        </p:spPr>
        <p:txBody>
          <a:bodyPr wrap="square" lIns="0" tIns="0" rIns="0" bIns="0" rtlCol="0" anchor="ctr"/>
          <a:lstStyle/>
          <a:p>
            <a:pPr indent="0" marL="0">
              <a:buNone/>
            </a:pPr>
            <a:r>
              <a:rPr lang="en-US" sz="1400" b="1" dirty="0">
                <a:solidFill>
                  <a:srgbClr val="E8A317"/>
                </a:solidFill>
                <a:latin typeface="Calibri" pitchFamily="34" charset="0"/>
                <a:ea typeface="Calibri" pitchFamily="34" charset="-122"/>
                <a:cs typeface="Calibri" pitchFamily="34" charset="-120"/>
              </a:rPr>
              <a:t>02</a:t>
            </a:r>
            <a:endParaRPr lang="en-US" sz="1400" dirty="0"/>
          </a:p>
        </p:txBody>
      </p:sp>
      <p:sp>
        <p:nvSpPr>
          <p:cNvPr id="9" name="Text 7"/>
          <p:cNvSpPr/>
          <p:nvPr/>
        </p:nvSpPr>
        <p:spPr>
          <a:xfrm>
            <a:off x="1234440" y="2688336"/>
            <a:ext cx="10241280" cy="38404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No claim leaves the firm without the verification gate.</a:t>
            </a:r>
            <a:endParaRPr lang="en-US" sz="1600" dirty="0"/>
          </a:p>
        </p:txBody>
      </p:sp>
      <p:sp>
        <p:nvSpPr>
          <p:cNvPr id="10" name="Text 8"/>
          <p:cNvSpPr/>
          <p:nvPr/>
        </p:nvSpPr>
        <p:spPr>
          <a:xfrm>
            <a:off x="640080" y="3163824"/>
            <a:ext cx="502920" cy="384048"/>
          </a:xfrm>
          <a:prstGeom prst="rect">
            <a:avLst/>
          </a:prstGeom>
          <a:noFill/>
          <a:ln/>
        </p:spPr>
        <p:txBody>
          <a:bodyPr wrap="square" lIns="0" tIns="0" rIns="0" bIns="0" rtlCol="0" anchor="ctr"/>
          <a:lstStyle/>
          <a:p>
            <a:pPr indent="0" marL="0">
              <a:buNone/>
            </a:pPr>
            <a:r>
              <a:rPr lang="en-US" sz="1400" b="1" dirty="0">
                <a:solidFill>
                  <a:srgbClr val="E8A317"/>
                </a:solidFill>
                <a:latin typeface="Calibri" pitchFamily="34" charset="0"/>
                <a:ea typeface="Calibri" pitchFamily="34" charset="-122"/>
                <a:cs typeface="Calibri" pitchFamily="34" charset="-120"/>
              </a:rPr>
              <a:t>03</a:t>
            </a:r>
            <a:endParaRPr lang="en-US" sz="1400" dirty="0"/>
          </a:p>
        </p:txBody>
      </p:sp>
      <p:sp>
        <p:nvSpPr>
          <p:cNvPr id="11" name="Text 9"/>
          <p:cNvSpPr/>
          <p:nvPr/>
        </p:nvSpPr>
        <p:spPr>
          <a:xfrm>
            <a:off x="1234440" y="3163824"/>
            <a:ext cx="10241280" cy="38404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Teachers and parents get the largest field effort, not the smallest.</a:t>
            </a:r>
            <a:endParaRPr lang="en-US" sz="1600" dirty="0"/>
          </a:p>
        </p:txBody>
      </p:sp>
      <p:sp>
        <p:nvSpPr>
          <p:cNvPr id="12" name="Text 10"/>
          <p:cNvSpPr/>
          <p:nvPr/>
        </p:nvSpPr>
        <p:spPr>
          <a:xfrm>
            <a:off x="640080" y="3639312"/>
            <a:ext cx="502920" cy="384048"/>
          </a:xfrm>
          <a:prstGeom prst="rect">
            <a:avLst/>
          </a:prstGeom>
          <a:noFill/>
          <a:ln/>
        </p:spPr>
        <p:txBody>
          <a:bodyPr wrap="square" lIns="0" tIns="0" rIns="0" bIns="0" rtlCol="0" anchor="ctr"/>
          <a:lstStyle/>
          <a:p>
            <a:pPr indent="0" marL="0">
              <a:buNone/>
            </a:pPr>
            <a:r>
              <a:rPr lang="en-US" sz="1400" b="1" dirty="0">
                <a:solidFill>
                  <a:srgbClr val="E8A317"/>
                </a:solidFill>
                <a:latin typeface="Calibri" pitchFamily="34" charset="0"/>
                <a:ea typeface="Calibri" pitchFamily="34" charset="-122"/>
                <a:cs typeface="Calibri" pitchFamily="34" charset="-120"/>
              </a:rPr>
              <a:t>04</a:t>
            </a:r>
            <a:endParaRPr lang="en-US" sz="1400" dirty="0"/>
          </a:p>
        </p:txBody>
      </p:sp>
      <p:sp>
        <p:nvSpPr>
          <p:cNvPr id="13" name="Text 11"/>
          <p:cNvSpPr/>
          <p:nvPr/>
        </p:nvSpPr>
        <p:spPr>
          <a:xfrm>
            <a:off x="1234440" y="3639312"/>
            <a:ext cx="10241280" cy="38404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Ring-fence assurance spend so a downturn cannot delete it.</a:t>
            </a:r>
            <a:endParaRPr lang="en-US" sz="1600" dirty="0"/>
          </a:p>
        </p:txBody>
      </p:sp>
      <p:sp>
        <p:nvSpPr>
          <p:cNvPr id="14" name="Text 12"/>
          <p:cNvSpPr/>
          <p:nvPr/>
        </p:nvSpPr>
        <p:spPr>
          <a:xfrm>
            <a:off x="640080" y="4114800"/>
            <a:ext cx="502920" cy="384048"/>
          </a:xfrm>
          <a:prstGeom prst="rect">
            <a:avLst/>
          </a:prstGeom>
          <a:noFill/>
          <a:ln/>
        </p:spPr>
        <p:txBody>
          <a:bodyPr wrap="square" lIns="0" tIns="0" rIns="0" bIns="0" rtlCol="0" anchor="ctr"/>
          <a:lstStyle/>
          <a:p>
            <a:pPr indent="0" marL="0">
              <a:buNone/>
            </a:pPr>
            <a:r>
              <a:rPr lang="en-US" sz="1400" b="1" dirty="0">
                <a:solidFill>
                  <a:srgbClr val="E8A317"/>
                </a:solidFill>
                <a:latin typeface="Calibri" pitchFamily="34" charset="0"/>
                <a:ea typeface="Calibri" pitchFamily="34" charset="-122"/>
                <a:cs typeface="Calibri" pitchFamily="34" charset="-120"/>
              </a:rPr>
              <a:t>05</a:t>
            </a:r>
            <a:endParaRPr lang="en-US" sz="1400" dirty="0"/>
          </a:p>
        </p:txBody>
      </p:sp>
      <p:sp>
        <p:nvSpPr>
          <p:cNvPr id="15" name="Text 13"/>
          <p:cNvSpPr/>
          <p:nvPr/>
        </p:nvSpPr>
        <p:spPr>
          <a:xfrm>
            <a:off x="1234440" y="4114800"/>
            <a:ext cx="10241280" cy="38404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Show the shortfall on the home page. Invite people to look at it.</a:t>
            </a:r>
            <a:endParaRPr lang="en-US" sz="1600" dirty="0"/>
          </a:p>
        </p:txBody>
      </p:sp>
      <p:sp>
        <p:nvSpPr>
          <p:cNvPr id="16" name="Text 14"/>
          <p:cNvSpPr/>
          <p:nvPr/>
        </p:nvSpPr>
        <p:spPr>
          <a:xfrm>
            <a:off x="640080" y="4709160"/>
            <a:ext cx="10972800" cy="640080"/>
          </a:xfrm>
          <a:prstGeom prst="rect">
            <a:avLst/>
          </a:prstGeom>
          <a:noFill/>
          <a:ln/>
        </p:spPr>
        <p:txBody>
          <a:bodyPr wrap="square" lIns="0" tIns="0" rIns="0" bIns="0" rtlCol="0" anchor="ctr"/>
          <a:lstStyle/>
          <a:p>
            <a:pPr indent="0" marL="0">
              <a:buNone/>
            </a:pPr>
            <a:r>
              <a:rPr lang="en-US" sz="1600" i="1" dirty="0">
                <a:solidFill>
                  <a:srgbClr val="C5D0DC"/>
                </a:solidFill>
                <a:latin typeface="Calibri" pitchFamily="34" charset="0"/>
                <a:ea typeface="Calibri" pitchFamily="34" charset="-122"/>
                <a:cs typeface="Calibri" pitchFamily="34" charset="-120"/>
              </a:rPr>
              <a:t>Everything else in this deck is a mechanism for carrying an honest number.</a:t>
            </a:r>
            <a:endParaRPr lang="en-US" sz="1600" dirty="0"/>
          </a:p>
          <a:p>
            <a:pPr indent="0" marL="0">
              <a:buNone/>
            </a:pPr>
            <a:r>
              <a:rPr lang="en-US" sz="1600" i="1" dirty="0">
                <a:solidFill>
                  <a:srgbClr val="C5D0DC"/>
                </a:solidFill>
                <a:latin typeface="Calibri" pitchFamily="34" charset="0"/>
                <a:ea typeface="Calibri" pitchFamily="34" charset="-122"/>
                <a:cs typeface="Calibri" pitchFamily="34" charset="-120"/>
              </a:rPr>
              <a:t>The honest number has to exist first.</a:t>
            </a:r>
            <a:endParaRPr lang="en-US" sz="1600" dirty="0"/>
          </a:p>
        </p:txBody>
      </p:sp>
      <p:sp>
        <p:nvSpPr>
          <p:cNvPr id="17" name="Text 15"/>
          <p:cNvSpPr/>
          <p:nvPr/>
        </p:nvSpPr>
        <p:spPr>
          <a:xfrm>
            <a:off x="640080" y="5532120"/>
            <a:ext cx="10972800" cy="329184"/>
          </a:xfrm>
          <a:prstGeom prst="rect">
            <a:avLst/>
          </a:prstGeom>
          <a:noFill/>
          <a:ln/>
        </p:spPr>
        <p:txBody>
          <a:bodyPr wrap="square" lIns="0" tIns="0" rIns="0" bIns="0" rtlCol="0" anchor="ctr"/>
          <a:lstStyle/>
          <a:p>
            <a:pPr indent="0" marL="0">
              <a:buNone/>
            </a:pPr>
            <a:r>
              <a:rPr lang="en-US" sz="2000" dirty="0">
                <a:solidFill>
                  <a:srgbClr val="FFFFFF"/>
                </a:solidFill>
                <a:latin typeface="Georgia" pitchFamily="34" charset="0"/>
                <a:ea typeface="Georgia" pitchFamily="34" charset="-122"/>
                <a:cs typeface="Georgia" pitchFamily="34" charset="-120"/>
              </a:rPr>
              <a:t>Thank you.  Questions welcome.</a:t>
            </a:r>
            <a:endParaRPr lang="en-US" sz="2000" dirty="0"/>
          </a:p>
        </p:txBody>
      </p:sp>
      <p:sp>
        <p:nvSpPr>
          <p:cNvPr id="18" name="Text 16"/>
          <p:cNvSpPr/>
          <p:nvPr/>
        </p:nvSpPr>
        <p:spPr>
          <a:xfrm>
            <a:off x="640080" y="6528816"/>
            <a:ext cx="10972800" cy="182880"/>
          </a:xfrm>
          <a:prstGeom prst="rect">
            <a:avLst/>
          </a:prstGeom>
          <a:noFill/>
          <a:ln/>
        </p:spPr>
        <p:txBody>
          <a:bodyPr wrap="square" lIns="0" tIns="0" rIns="0" bIns="0" rtlCol="0" anchor="ctr"/>
          <a:lstStyle/>
          <a:p>
            <a:pPr indent="0" marL="0">
              <a:buNone/>
            </a:pPr>
            <a:r>
              <a:rPr lang="en-US" sz="1100" dirty="0">
                <a:solidFill>
                  <a:srgbClr val="8E9AAB"/>
                </a:solidFill>
                <a:latin typeface="Calibri" pitchFamily="34" charset="0"/>
                <a:ea typeface="Calibri" pitchFamily="34" charset="-122"/>
                <a:cs typeface="Calibri" pitchFamily="34" charset="-120"/>
              </a:rPr>
              <a:t>Vidyanta figures are illustrative. Sources: ASER 2024, UDISE+, NITI Aayog SDG India Index, UNESCO, World Bank.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Communicating SDG 4 — Vidyanta Learning</dc:title>
  <dc:subject>Written Analysis of Communication — Term I</dc:subject>
  <dc:creator>Section B Group 8, IIM Rohtak</dc:creator>
  <cp:lastModifiedBy>Section B Group 8, IIM Rohtak</cp:lastModifiedBy>
  <cp:revision>1</cp:revision>
  <dcterms:created xsi:type="dcterms:W3CDTF">2026-08-27T07:22:01Z</dcterms:created>
  <dcterms:modified xsi:type="dcterms:W3CDTF">2026-08-27T07:22:01Z</dcterms:modified>
</cp:coreProperties>
</file>